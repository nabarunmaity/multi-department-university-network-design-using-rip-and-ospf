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9" r:id="rId3"/>
    <p:sldId id="257" r:id="rId4"/>
    <p:sldId id="258" r:id="rId5"/>
    <p:sldId id="259" r:id="rId6"/>
    <p:sldId id="260" r:id="rId7"/>
    <p:sldId id="261" r:id="rId8"/>
    <p:sldId id="262" r:id="rId9"/>
    <p:sldId id="263" r:id="rId10"/>
    <p:sldId id="264" r:id="rId11"/>
    <p:sldId id="265" r:id="rId12"/>
    <p:sldId id="266" r:id="rId13"/>
    <p:sldId id="267" r:id="rId14"/>
    <p:sldId id="270" r:id="rId15"/>
    <p:sldId id="271" r:id="rId16"/>
    <p:sldId id="26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463"/>
    <p:restoredTop sz="94544"/>
  </p:normalViewPr>
  <p:slideViewPr>
    <p:cSldViewPr snapToGrid="0">
      <p:cViewPr varScale="1">
        <p:scale>
          <a:sx n="113" d="100"/>
          <a:sy n="113" d="100"/>
        </p:scale>
        <p:origin x="184" y="3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8D1F6-5942-6BCA-9D71-4B5E8C2C037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8C236659-22B0-D94D-5FEF-CC54639AB4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4CA2A2E-E088-D253-7557-516E5D09CF1E}"/>
              </a:ext>
            </a:extLst>
          </p:cNvPr>
          <p:cNvSpPr>
            <a:spLocks noGrp="1"/>
          </p:cNvSpPr>
          <p:nvPr>
            <p:ph type="dt" sz="half" idx="10"/>
          </p:nvPr>
        </p:nvSpPr>
        <p:spPr/>
        <p:txBody>
          <a:bodyPr/>
          <a:lstStyle/>
          <a:p>
            <a:fld id="{98C09CCB-9DF5-B440-952E-A8E3DD4B7DDF}" type="datetimeFigureOut">
              <a:rPr lang="en-US" smtClean="0"/>
              <a:t>9/30/26</a:t>
            </a:fld>
            <a:endParaRPr lang="en-US"/>
          </a:p>
        </p:txBody>
      </p:sp>
      <p:sp>
        <p:nvSpPr>
          <p:cNvPr id="5" name="Footer Placeholder 4">
            <a:extLst>
              <a:ext uri="{FF2B5EF4-FFF2-40B4-BE49-F238E27FC236}">
                <a16:creationId xmlns:a16="http://schemas.microsoft.com/office/drawing/2014/main" id="{3619E3D0-37B1-7E79-E08A-AF74F17E76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A04E28-440D-B894-51F8-080B2BF69055}"/>
              </a:ext>
            </a:extLst>
          </p:cNvPr>
          <p:cNvSpPr>
            <a:spLocks noGrp="1"/>
          </p:cNvSpPr>
          <p:nvPr>
            <p:ph type="sldNum" sz="quarter" idx="12"/>
          </p:nvPr>
        </p:nvSpPr>
        <p:spPr/>
        <p:txBody>
          <a:bodyPr/>
          <a:lstStyle/>
          <a:p>
            <a:fld id="{FAA7427F-FC4C-124D-9914-46399507FD65}" type="slidenum">
              <a:rPr lang="en-US" smtClean="0"/>
              <a:t>‹#›</a:t>
            </a:fld>
            <a:endParaRPr lang="en-US"/>
          </a:p>
        </p:txBody>
      </p:sp>
    </p:spTree>
    <p:extLst>
      <p:ext uri="{BB962C8B-B14F-4D97-AF65-F5344CB8AC3E}">
        <p14:creationId xmlns:p14="http://schemas.microsoft.com/office/powerpoint/2010/main" val="21413831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00F71-CFA5-78E2-7B1B-EBDE008A054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2E24814-4F90-BD73-491F-CCBF1C6F0A5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44FD274-7047-CD5C-77DE-6E884DB4C934}"/>
              </a:ext>
            </a:extLst>
          </p:cNvPr>
          <p:cNvSpPr>
            <a:spLocks noGrp="1"/>
          </p:cNvSpPr>
          <p:nvPr>
            <p:ph type="dt" sz="half" idx="10"/>
          </p:nvPr>
        </p:nvSpPr>
        <p:spPr/>
        <p:txBody>
          <a:bodyPr/>
          <a:lstStyle/>
          <a:p>
            <a:fld id="{98C09CCB-9DF5-B440-952E-A8E3DD4B7DDF}" type="datetimeFigureOut">
              <a:rPr lang="en-US" smtClean="0"/>
              <a:t>9/30/26</a:t>
            </a:fld>
            <a:endParaRPr lang="en-US"/>
          </a:p>
        </p:txBody>
      </p:sp>
      <p:sp>
        <p:nvSpPr>
          <p:cNvPr id="5" name="Footer Placeholder 4">
            <a:extLst>
              <a:ext uri="{FF2B5EF4-FFF2-40B4-BE49-F238E27FC236}">
                <a16:creationId xmlns:a16="http://schemas.microsoft.com/office/drawing/2014/main" id="{C4F9B69D-F461-3902-08CC-37BE6EE7D5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8B642F-6884-5503-6722-EC68F6CF812C}"/>
              </a:ext>
            </a:extLst>
          </p:cNvPr>
          <p:cNvSpPr>
            <a:spLocks noGrp="1"/>
          </p:cNvSpPr>
          <p:nvPr>
            <p:ph type="sldNum" sz="quarter" idx="12"/>
          </p:nvPr>
        </p:nvSpPr>
        <p:spPr/>
        <p:txBody>
          <a:bodyPr/>
          <a:lstStyle/>
          <a:p>
            <a:fld id="{FAA7427F-FC4C-124D-9914-46399507FD65}" type="slidenum">
              <a:rPr lang="en-US" smtClean="0"/>
              <a:t>‹#›</a:t>
            </a:fld>
            <a:endParaRPr lang="en-US"/>
          </a:p>
        </p:txBody>
      </p:sp>
    </p:spTree>
    <p:extLst>
      <p:ext uri="{BB962C8B-B14F-4D97-AF65-F5344CB8AC3E}">
        <p14:creationId xmlns:p14="http://schemas.microsoft.com/office/powerpoint/2010/main" val="13873062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71D19-5652-9536-B3AC-0063484F5856}"/>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FFB7A2B3-05CE-AD08-7B9B-D62434A890D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60FB53E-5FB2-712F-A35B-EC0360C9940C}"/>
              </a:ext>
            </a:extLst>
          </p:cNvPr>
          <p:cNvSpPr>
            <a:spLocks noGrp="1"/>
          </p:cNvSpPr>
          <p:nvPr>
            <p:ph type="dt" sz="half" idx="10"/>
          </p:nvPr>
        </p:nvSpPr>
        <p:spPr/>
        <p:txBody>
          <a:bodyPr/>
          <a:lstStyle/>
          <a:p>
            <a:fld id="{98C09CCB-9DF5-B440-952E-A8E3DD4B7DDF}" type="datetimeFigureOut">
              <a:rPr lang="en-US" smtClean="0"/>
              <a:t>9/30/26</a:t>
            </a:fld>
            <a:endParaRPr lang="en-US"/>
          </a:p>
        </p:txBody>
      </p:sp>
      <p:sp>
        <p:nvSpPr>
          <p:cNvPr id="5" name="Footer Placeholder 4">
            <a:extLst>
              <a:ext uri="{FF2B5EF4-FFF2-40B4-BE49-F238E27FC236}">
                <a16:creationId xmlns:a16="http://schemas.microsoft.com/office/drawing/2014/main" id="{93E70958-88D6-0EBE-2E47-D0C6960CCC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D9A4E8-C082-2C08-80F6-032961185CC7}"/>
              </a:ext>
            </a:extLst>
          </p:cNvPr>
          <p:cNvSpPr>
            <a:spLocks noGrp="1"/>
          </p:cNvSpPr>
          <p:nvPr>
            <p:ph type="sldNum" sz="quarter" idx="12"/>
          </p:nvPr>
        </p:nvSpPr>
        <p:spPr/>
        <p:txBody>
          <a:bodyPr/>
          <a:lstStyle/>
          <a:p>
            <a:fld id="{FAA7427F-FC4C-124D-9914-46399507FD65}" type="slidenum">
              <a:rPr lang="en-US" smtClean="0"/>
              <a:t>‹#›</a:t>
            </a:fld>
            <a:endParaRPr lang="en-US"/>
          </a:p>
        </p:txBody>
      </p:sp>
    </p:spTree>
    <p:extLst>
      <p:ext uri="{BB962C8B-B14F-4D97-AF65-F5344CB8AC3E}">
        <p14:creationId xmlns:p14="http://schemas.microsoft.com/office/powerpoint/2010/main" val="34365892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72ACD-025B-9A9C-D16F-5E705A53BA3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2F4044C-4F17-EE1D-8004-6DD27B2F966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810080DD-5BAB-F9AF-5CF2-1C280DBE582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5D7102BF-E89B-CD3B-D62E-D0CB30271993}"/>
              </a:ext>
            </a:extLst>
          </p:cNvPr>
          <p:cNvSpPr>
            <a:spLocks noGrp="1"/>
          </p:cNvSpPr>
          <p:nvPr>
            <p:ph type="dt" sz="half" idx="10"/>
          </p:nvPr>
        </p:nvSpPr>
        <p:spPr/>
        <p:txBody>
          <a:bodyPr/>
          <a:lstStyle/>
          <a:p>
            <a:fld id="{98C09CCB-9DF5-B440-952E-A8E3DD4B7DDF}" type="datetimeFigureOut">
              <a:rPr lang="en-US" smtClean="0"/>
              <a:t>9/30/26</a:t>
            </a:fld>
            <a:endParaRPr lang="en-US"/>
          </a:p>
        </p:txBody>
      </p:sp>
      <p:sp>
        <p:nvSpPr>
          <p:cNvPr id="6" name="Footer Placeholder 5">
            <a:extLst>
              <a:ext uri="{FF2B5EF4-FFF2-40B4-BE49-F238E27FC236}">
                <a16:creationId xmlns:a16="http://schemas.microsoft.com/office/drawing/2014/main" id="{C1703BD6-0917-419D-9560-A73436AA82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C7C738-C267-4197-A14C-922406A2278A}"/>
              </a:ext>
            </a:extLst>
          </p:cNvPr>
          <p:cNvSpPr>
            <a:spLocks noGrp="1"/>
          </p:cNvSpPr>
          <p:nvPr>
            <p:ph type="sldNum" sz="quarter" idx="12"/>
          </p:nvPr>
        </p:nvSpPr>
        <p:spPr/>
        <p:txBody>
          <a:bodyPr/>
          <a:lstStyle/>
          <a:p>
            <a:fld id="{FAA7427F-FC4C-124D-9914-46399507FD65}" type="slidenum">
              <a:rPr lang="en-US" smtClean="0"/>
              <a:t>‹#›</a:t>
            </a:fld>
            <a:endParaRPr lang="en-US"/>
          </a:p>
        </p:txBody>
      </p:sp>
    </p:spTree>
    <p:extLst>
      <p:ext uri="{BB962C8B-B14F-4D97-AF65-F5344CB8AC3E}">
        <p14:creationId xmlns:p14="http://schemas.microsoft.com/office/powerpoint/2010/main" val="846056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A8573-264A-9A3E-D0B1-A3E27FCD53DC}"/>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C59DA92-7306-CE38-E00A-07BE4318E0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D06FD07-86B0-C81D-776D-75333D28200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F5A0E1A1-FAFB-2B6F-0B8C-E8BF00DA53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5C61D0A-8FA0-282F-AB74-81E31DB82BC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C531A4F5-5C6E-80B4-1851-EBCB2AC4C469}"/>
              </a:ext>
            </a:extLst>
          </p:cNvPr>
          <p:cNvSpPr>
            <a:spLocks noGrp="1"/>
          </p:cNvSpPr>
          <p:nvPr>
            <p:ph type="dt" sz="half" idx="10"/>
          </p:nvPr>
        </p:nvSpPr>
        <p:spPr/>
        <p:txBody>
          <a:bodyPr/>
          <a:lstStyle/>
          <a:p>
            <a:fld id="{98C09CCB-9DF5-B440-952E-A8E3DD4B7DDF}" type="datetimeFigureOut">
              <a:rPr lang="en-US" smtClean="0"/>
              <a:t>9/30/26</a:t>
            </a:fld>
            <a:endParaRPr lang="en-US"/>
          </a:p>
        </p:txBody>
      </p:sp>
      <p:sp>
        <p:nvSpPr>
          <p:cNvPr id="8" name="Footer Placeholder 7">
            <a:extLst>
              <a:ext uri="{FF2B5EF4-FFF2-40B4-BE49-F238E27FC236}">
                <a16:creationId xmlns:a16="http://schemas.microsoft.com/office/drawing/2014/main" id="{50BCC82C-73F3-5359-ECA2-64C6343C494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683420F-BAB6-5D60-CE19-311A3839B9DC}"/>
              </a:ext>
            </a:extLst>
          </p:cNvPr>
          <p:cNvSpPr>
            <a:spLocks noGrp="1"/>
          </p:cNvSpPr>
          <p:nvPr>
            <p:ph type="sldNum" sz="quarter" idx="12"/>
          </p:nvPr>
        </p:nvSpPr>
        <p:spPr/>
        <p:txBody>
          <a:bodyPr/>
          <a:lstStyle/>
          <a:p>
            <a:fld id="{FAA7427F-FC4C-124D-9914-46399507FD65}" type="slidenum">
              <a:rPr lang="en-US" smtClean="0"/>
              <a:t>‹#›</a:t>
            </a:fld>
            <a:endParaRPr lang="en-US"/>
          </a:p>
        </p:txBody>
      </p:sp>
    </p:spTree>
    <p:extLst>
      <p:ext uri="{BB962C8B-B14F-4D97-AF65-F5344CB8AC3E}">
        <p14:creationId xmlns:p14="http://schemas.microsoft.com/office/powerpoint/2010/main" val="336571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9468B-C0AB-1FE9-D3C1-CE2E971802CE}"/>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FE10858C-40A1-FF67-21F0-6C5EC889F863}"/>
              </a:ext>
            </a:extLst>
          </p:cNvPr>
          <p:cNvSpPr>
            <a:spLocks noGrp="1"/>
          </p:cNvSpPr>
          <p:nvPr>
            <p:ph type="dt" sz="half" idx="10"/>
          </p:nvPr>
        </p:nvSpPr>
        <p:spPr/>
        <p:txBody>
          <a:bodyPr/>
          <a:lstStyle/>
          <a:p>
            <a:fld id="{98C09CCB-9DF5-B440-952E-A8E3DD4B7DDF}" type="datetimeFigureOut">
              <a:rPr lang="en-US" smtClean="0"/>
              <a:t>9/30/26</a:t>
            </a:fld>
            <a:endParaRPr lang="en-US"/>
          </a:p>
        </p:txBody>
      </p:sp>
      <p:sp>
        <p:nvSpPr>
          <p:cNvPr id="4" name="Footer Placeholder 3">
            <a:extLst>
              <a:ext uri="{FF2B5EF4-FFF2-40B4-BE49-F238E27FC236}">
                <a16:creationId xmlns:a16="http://schemas.microsoft.com/office/drawing/2014/main" id="{E090B720-13A1-B28B-54EB-78D3CD26119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B825A1-6DEB-61F9-4658-EE72E03E3E14}"/>
              </a:ext>
            </a:extLst>
          </p:cNvPr>
          <p:cNvSpPr>
            <a:spLocks noGrp="1"/>
          </p:cNvSpPr>
          <p:nvPr>
            <p:ph type="sldNum" sz="quarter" idx="12"/>
          </p:nvPr>
        </p:nvSpPr>
        <p:spPr/>
        <p:txBody>
          <a:bodyPr/>
          <a:lstStyle/>
          <a:p>
            <a:fld id="{FAA7427F-FC4C-124D-9914-46399507FD65}" type="slidenum">
              <a:rPr lang="en-US" smtClean="0"/>
              <a:t>‹#›</a:t>
            </a:fld>
            <a:endParaRPr lang="en-US"/>
          </a:p>
        </p:txBody>
      </p:sp>
    </p:spTree>
    <p:extLst>
      <p:ext uri="{BB962C8B-B14F-4D97-AF65-F5344CB8AC3E}">
        <p14:creationId xmlns:p14="http://schemas.microsoft.com/office/powerpoint/2010/main" val="23200323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4B10E2-E254-E554-1985-520334782E31}"/>
              </a:ext>
            </a:extLst>
          </p:cNvPr>
          <p:cNvSpPr>
            <a:spLocks noGrp="1"/>
          </p:cNvSpPr>
          <p:nvPr>
            <p:ph type="dt" sz="half" idx="10"/>
          </p:nvPr>
        </p:nvSpPr>
        <p:spPr/>
        <p:txBody>
          <a:bodyPr/>
          <a:lstStyle/>
          <a:p>
            <a:fld id="{98C09CCB-9DF5-B440-952E-A8E3DD4B7DDF}" type="datetimeFigureOut">
              <a:rPr lang="en-US" smtClean="0"/>
              <a:t>9/30/26</a:t>
            </a:fld>
            <a:endParaRPr lang="en-US"/>
          </a:p>
        </p:txBody>
      </p:sp>
      <p:sp>
        <p:nvSpPr>
          <p:cNvPr id="3" name="Footer Placeholder 2">
            <a:extLst>
              <a:ext uri="{FF2B5EF4-FFF2-40B4-BE49-F238E27FC236}">
                <a16:creationId xmlns:a16="http://schemas.microsoft.com/office/drawing/2014/main" id="{2AD1CF6A-9AF1-CA34-9D9B-0C823208748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CE784B5-86A8-BB14-2223-F8715AFD0C67}"/>
              </a:ext>
            </a:extLst>
          </p:cNvPr>
          <p:cNvSpPr>
            <a:spLocks noGrp="1"/>
          </p:cNvSpPr>
          <p:nvPr>
            <p:ph type="sldNum" sz="quarter" idx="12"/>
          </p:nvPr>
        </p:nvSpPr>
        <p:spPr/>
        <p:txBody>
          <a:bodyPr/>
          <a:lstStyle/>
          <a:p>
            <a:fld id="{FAA7427F-FC4C-124D-9914-46399507FD65}" type="slidenum">
              <a:rPr lang="en-US" smtClean="0"/>
              <a:t>‹#›</a:t>
            </a:fld>
            <a:endParaRPr lang="en-US"/>
          </a:p>
        </p:txBody>
      </p:sp>
    </p:spTree>
    <p:extLst>
      <p:ext uri="{BB962C8B-B14F-4D97-AF65-F5344CB8AC3E}">
        <p14:creationId xmlns:p14="http://schemas.microsoft.com/office/powerpoint/2010/main" val="14234595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EF022-A969-459B-9B2B-3A6C2EA133B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03F6F0B9-BEC2-1364-E835-380CBD9454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E998B5C6-1340-62CA-9DC0-B10941856A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18FCA19-C93D-38D3-F478-7D53F379146F}"/>
              </a:ext>
            </a:extLst>
          </p:cNvPr>
          <p:cNvSpPr>
            <a:spLocks noGrp="1"/>
          </p:cNvSpPr>
          <p:nvPr>
            <p:ph type="dt" sz="half" idx="10"/>
          </p:nvPr>
        </p:nvSpPr>
        <p:spPr/>
        <p:txBody>
          <a:bodyPr/>
          <a:lstStyle/>
          <a:p>
            <a:fld id="{98C09CCB-9DF5-B440-952E-A8E3DD4B7DDF}" type="datetimeFigureOut">
              <a:rPr lang="en-US" smtClean="0"/>
              <a:t>9/30/26</a:t>
            </a:fld>
            <a:endParaRPr lang="en-US"/>
          </a:p>
        </p:txBody>
      </p:sp>
      <p:sp>
        <p:nvSpPr>
          <p:cNvPr id="6" name="Footer Placeholder 5">
            <a:extLst>
              <a:ext uri="{FF2B5EF4-FFF2-40B4-BE49-F238E27FC236}">
                <a16:creationId xmlns:a16="http://schemas.microsoft.com/office/drawing/2014/main" id="{A5B92B2C-F237-3AF3-B189-4E1C847CE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58EB8F-34C2-831B-2A21-22B53CC90D58}"/>
              </a:ext>
            </a:extLst>
          </p:cNvPr>
          <p:cNvSpPr>
            <a:spLocks noGrp="1"/>
          </p:cNvSpPr>
          <p:nvPr>
            <p:ph type="sldNum" sz="quarter" idx="12"/>
          </p:nvPr>
        </p:nvSpPr>
        <p:spPr/>
        <p:txBody>
          <a:bodyPr/>
          <a:lstStyle/>
          <a:p>
            <a:fld id="{FAA7427F-FC4C-124D-9914-46399507FD65}" type="slidenum">
              <a:rPr lang="en-US" smtClean="0"/>
              <a:t>‹#›</a:t>
            </a:fld>
            <a:endParaRPr lang="en-US"/>
          </a:p>
        </p:txBody>
      </p:sp>
    </p:spTree>
    <p:extLst>
      <p:ext uri="{BB962C8B-B14F-4D97-AF65-F5344CB8AC3E}">
        <p14:creationId xmlns:p14="http://schemas.microsoft.com/office/powerpoint/2010/main" val="1715430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FE02C-135A-93A0-8F62-6CBDE09F5A1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C2B6395D-6C62-B436-F90A-83245D699A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D8BED97-D82F-EFF1-55C4-2F5EB1B54C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CCA5E20-C5B6-CEDB-261E-80013454F791}"/>
              </a:ext>
            </a:extLst>
          </p:cNvPr>
          <p:cNvSpPr>
            <a:spLocks noGrp="1"/>
          </p:cNvSpPr>
          <p:nvPr>
            <p:ph type="dt" sz="half" idx="10"/>
          </p:nvPr>
        </p:nvSpPr>
        <p:spPr/>
        <p:txBody>
          <a:bodyPr/>
          <a:lstStyle/>
          <a:p>
            <a:fld id="{98C09CCB-9DF5-B440-952E-A8E3DD4B7DDF}" type="datetimeFigureOut">
              <a:rPr lang="en-US" smtClean="0"/>
              <a:t>9/30/26</a:t>
            </a:fld>
            <a:endParaRPr lang="en-US"/>
          </a:p>
        </p:txBody>
      </p:sp>
      <p:sp>
        <p:nvSpPr>
          <p:cNvPr id="6" name="Footer Placeholder 5">
            <a:extLst>
              <a:ext uri="{FF2B5EF4-FFF2-40B4-BE49-F238E27FC236}">
                <a16:creationId xmlns:a16="http://schemas.microsoft.com/office/drawing/2014/main" id="{FB644742-678B-238A-C5C1-D370874C07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8C4217-6BED-7904-C013-3093267DAFD7}"/>
              </a:ext>
            </a:extLst>
          </p:cNvPr>
          <p:cNvSpPr>
            <a:spLocks noGrp="1"/>
          </p:cNvSpPr>
          <p:nvPr>
            <p:ph type="sldNum" sz="quarter" idx="12"/>
          </p:nvPr>
        </p:nvSpPr>
        <p:spPr/>
        <p:txBody>
          <a:bodyPr/>
          <a:lstStyle/>
          <a:p>
            <a:fld id="{FAA7427F-FC4C-124D-9914-46399507FD65}" type="slidenum">
              <a:rPr lang="en-US" smtClean="0"/>
              <a:t>‹#›</a:t>
            </a:fld>
            <a:endParaRPr lang="en-US"/>
          </a:p>
        </p:txBody>
      </p:sp>
    </p:spTree>
    <p:extLst>
      <p:ext uri="{BB962C8B-B14F-4D97-AF65-F5344CB8AC3E}">
        <p14:creationId xmlns:p14="http://schemas.microsoft.com/office/powerpoint/2010/main" val="1837997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78FDE-BE88-622C-2AEB-3E79867C5802}"/>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23C0A3D-CD48-78F3-3000-14070718422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753FC7F-EDA8-EBAF-81F1-3FD28F23CC13}"/>
              </a:ext>
            </a:extLst>
          </p:cNvPr>
          <p:cNvSpPr>
            <a:spLocks noGrp="1"/>
          </p:cNvSpPr>
          <p:nvPr>
            <p:ph type="dt" sz="half" idx="10"/>
          </p:nvPr>
        </p:nvSpPr>
        <p:spPr/>
        <p:txBody>
          <a:bodyPr/>
          <a:lstStyle/>
          <a:p>
            <a:fld id="{98C09CCB-9DF5-B440-952E-A8E3DD4B7DDF}" type="datetimeFigureOut">
              <a:rPr lang="en-US" smtClean="0"/>
              <a:t>9/30/26</a:t>
            </a:fld>
            <a:endParaRPr lang="en-US"/>
          </a:p>
        </p:txBody>
      </p:sp>
      <p:sp>
        <p:nvSpPr>
          <p:cNvPr id="5" name="Footer Placeholder 4">
            <a:extLst>
              <a:ext uri="{FF2B5EF4-FFF2-40B4-BE49-F238E27FC236}">
                <a16:creationId xmlns:a16="http://schemas.microsoft.com/office/drawing/2014/main" id="{737CB44E-F784-AC41-1007-6BF8CFB088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6F0EE4-BEFC-0361-ACF4-BDB3F5A02240}"/>
              </a:ext>
            </a:extLst>
          </p:cNvPr>
          <p:cNvSpPr>
            <a:spLocks noGrp="1"/>
          </p:cNvSpPr>
          <p:nvPr>
            <p:ph type="sldNum" sz="quarter" idx="12"/>
          </p:nvPr>
        </p:nvSpPr>
        <p:spPr/>
        <p:txBody>
          <a:bodyPr/>
          <a:lstStyle/>
          <a:p>
            <a:fld id="{FAA7427F-FC4C-124D-9914-46399507FD65}" type="slidenum">
              <a:rPr lang="en-US" smtClean="0"/>
              <a:t>‹#›</a:t>
            </a:fld>
            <a:endParaRPr lang="en-US"/>
          </a:p>
        </p:txBody>
      </p:sp>
    </p:spTree>
    <p:extLst>
      <p:ext uri="{BB962C8B-B14F-4D97-AF65-F5344CB8AC3E}">
        <p14:creationId xmlns:p14="http://schemas.microsoft.com/office/powerpoint/2010/main" val="10093021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15A958-8912-7595-6A22-4A6C6E68D4B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5CDBAE8-CB0E-E211-A5DD-772810E5646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D68D651-FDB0-6724-1EAA-FCDE26CB2D19}"/>
              </a:ext>
            </a:extLst>
          </p:cNvPr>
          <p:cNvSpPr>
            <a:spLocks noGrp="1"/>
          </p:cNvSpPr>
          <p:nvPr>
            <p:ph type="dt" sz="half" idx="10"/>
          </p:nvPr>
        </p:nvSpPr>
        <p:spPr/>
        <p:txBody>
          <a:bodyPr/>
          <a:lstStyle/>
          <a:p>
            <a:fld id="{98C09CCB-9DF5-B440-952E-A8E3DD4B7DDF}" type="datetimeFigureOut">
              <a:rPr lang="en-US" smtClean="0"/>
              <a:t>9/30/26</a:t>
            </a:fld>
            <a:endParaRPr lang="en-US"/>
          </a:p>
        </p:txBody>
      </p:sp>
      <p:sp>
        <p:nvSpPr>
          <p:cNvPr id="5" name="Footer Placeholder 4">
            <a:extLst>
              <a:ext uri="{FF2B5EF4-FFF2-40B4-BE49-F238E27FC236}">
                <a16:creationId xmlns:a16="http://schemas.microsoft.com/office/drawing/2014/main" id="{C5D8BBC1-EBD0-E5A9-7F79-C8E5633672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D0C5D0-8EE5-E957-F657-DE78A2691130}"/>
              </a:ext>
            </a:extLst>
          </p:cNvPr>
          <p:cNvSpPr>
            <a:spLocks noGrp="1"/>
          </p:cNvSpPr>
          <p:nvPr>
            <p:ph type="sldNum" sz="quarter" idx="12"/>
          </p:nvPr>
        </p:nvSpPr>
        <p:spPr/>
        <p:txBody>
          <a:bodyPr/>
          <a:lstStyle/>
          <a:p>
            <a:fld id="{FAA7427F-FC4C-124D-9914-46399507FD65}" type="slidenum">
              <a:rPr lang="en-US" smtClean="0"/>
              <a:t>‹#›</a:t>
            </a:fld>
            <a:endParaRPr lang="en-US"/>
          </a:p>
        </p:txBody>
      </p:sp>
    </p:spTree>
    <p:extLst>
      <p:ext uri="{BB962C8B-B14F-4D97-AF65-F5344CB8AC3E}">
        <p14:creationId xmlns:p14="http://schemas.microsoft.com/office/powerpoint/2010/main" val="111329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E2962A-B0F1-9823-9ABA-7FDE74F806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CB00F79-E331-CCF5-D592-E4D9098015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2382A4B-4B26-48E5-74DA-B0E308BBFB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8C09CCB-9DF5-B440-952E-A8E3DD4B7DDF}" type="datetimeFigureOut">
              <a:rPr lang="en-US" smtClean="0"/>
              <a:t>9/30/26</a:t>
            </a:fld>
            <a:endParaRPr lang="en-US"/>
          </a:p>
        </p:txBody>
      </p:sp>
      <p:sp>
        <p:nvSpPr>
          <p:cNvPr id="5" name="Footer Placeholder 4">
            <a:extLst>
              <a:ext uri="{FF2B5EF4-FFF2-40B4-BE49-F238E27FC236}">
                <a16:creationId xmlns:a16="http://schemas.microsoft.com/office/drawing/2014/main" id="{352DFB89-E0A8-94D3-49C2-31A65CFAEE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786B890-5A57-3EB5-C6E6-3837A269D8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AA7427F-FC4C-124D-9914-46399507FD65}" type="slidenum">
              <a:rPr lang="en-US" smtClean="0"/>
              <a:t>‹#›</a:t>
            </a:fld>
            <a:endParaRPr lang="en-US"/>
          </a:p>
        </p:txBody>
      </p:sp>
    </p:spTree>
    <p:extLst>
      <p:ext uri="{BB962C8B-B14F-4D97-AF65-F5344CB8AC3E}">
        <p14:creationId xmlns:p14="http://schemas.microsoft.com/office/powerpoint/2010/main" val="28138959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2.wdp"/></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4AAE8-C273-F99F-D4A6-20C0593F4660}"/>
              </a:ext>
            </a:extLst>
          </p:cNvPr>
          <p:cNvSpPr>
            <a:spLocks noGrp="1"/>
          </p:cNvSpPr>
          <p:nvPr>
            <p:ph type="ctrTitle"/>
          </p:nvPr>
        </p:nvSpPr>
        <p:spPr>
          <a:xfrm>
            <a:off x="547738" y="1117104"/>
            <a:ext cx="10741151" cy="1462341"/>
          </a:xfrm>
        </p:spPr>
        <p:txBody>
          <a:bodyPr>
            <a:normAutofit fontScale="90000"/>
          </a:bodyPr>
          <a:lstStyle/>
          <a:p>
            <a:r>
              <a:rPr lang="en-IN" dirty="0">
                <a:solidFill>
                  <a:srgbClr val="002060"/>
                </a:solidFill>
                <a:latin typeface="Times New Roman" panose="02020603050405020304" pitchFamily="18" charset="0"/>
                <a:cs typeface="Times New Roman" panose="02020603050405020304" pitchFamily="18" charset="0"/>
              </a:rPr>
              <a:t>Multi-Department University Network Design Using RIP and OSPF</a:t>
            </a:r>
            <a:endParaRPr lang="en-US" dirty="0">
              <a:solidFill>
                <a:srgbClr val="00206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461485C2-9DBF-3322-5461-9F1183BFD6E8}"/>
              </a:ext>
            </a:extLst>
          </p:cNvPr>
          <p:cNvSpPr>
            <a:spLocks noGrp="1"/>
          </p:cNvSpPr>
          <p:nvPr>
            <p:ph type="subTitle" idx="1"/>
          </p:nvPr>
        </p:nvSpPr>
        <p:spPr/>
        <p:txBody>
          <a:bodyPr>
            <a:normAutofit/>
          </a:bodyPr>
          <a:lstStyle/>
          <a:p>
            <a:pPr>
              <a:spcBef>
                <a:spcPts val="400"/>
              </a:spcBef>
              <a:spcAft>
                <a:spcPts val="600"/>
              </a:spcAft>
            </a:pPr>
            <a:br>
              <a:rPr lang="en-IN" dirty="0"/>
            </a:br>
            <a:endParaRPr lang="en-US" dirty="0"/>
          </a:p>
        </p:txBody>
      </p:sp>
      <p:pic>
        <p:nvPicPr>
          <p:cNvPr id="6" name="Picture 5">
            <a:extLst>
              <a:ext uri="{FF2B5EF4-FFF2-40B4-BE49-F238E27FC236}">
                <a16:creationId xmlns:a16="http://schemas.microsoft.com/office/drawing/2014/main" id="{57948A56-5EE3-02B7-324F-F9D708187927}"/>
              </a:ext>
            </a:extLst>
          </p:cNvPr>
          <p:cNvPicPr>
            <a:picLocks noChangeAspect="1"/>
          </p:cNvPicPr>
          <p:nvPr/>
        </p:nvPicPr>
        <p:blipFill>
          <a:blip r:embed="rId2"/>
          <a:stretch>
            <a:fillRect/>
          </a:stretch>
        </p:blipFill>
        <p:spPr>
          <a:xfrm>
            <a:off x="9973734" y="-150905"/>
            <a:ext cx="2178755" cy="2178755"/>
          </a:xfrm>
          <a:prstGeom prst="rect">
            <a:avLst/>
          </a:prstGeom>
        </p:spPr>
      </p:pic>
      <p:sp>
        <p:nvSpPr>
          <p:cNvPr id="7" name="TextBox 6">
            <a:extLst>
              <a:ext uri="{FF2B5EF4-FFF2-40B4-BE49-F238E27FC236}">
                <a16:creationId xmlns:a16="http://schemas.microsoft.com/office/drawing/2014/main" id="{19E02F3C-E4F2-6E77-CEAF-1A28AFAAE07F}"/>
              </a:ext>
            </a:extLst>
          </p:cNvPr>
          <p:cNvSpPr txBox="1"/>
          <p:nvPr/>
        </p:nvSpPr>
        <p:spPr>
          <a:xfrm>
            <a:off x="938784" y="2773852"/>
            <a:ext cx="10350105" cy="1938992"/>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Course Name: </a:t>
            </a:r>
            <a:r>
              <a:rPr lang="en-IN" sz="2400" dirty="0">
                <a:latin typeface="Times New Roman" panose="02020603050405020304" pitchFamily="18" charset="0"/>
                <a:cs typeface="Times New Roman" panose="02020603050405020304" pitchFamily="18" charset="0"/>
              </a:rPr>
              <a:t>Computer Networks</a:t>
            </a:r>
          </a:p>
          <a:p>
            <a:r>
              <a:rPr lang="en-IN" sz="2400" b="1" dirty="0">
                <a:latin typeface="Times New Roman" panose="02020603050405020304" pitchFamily="18" charset="0"/>
                <a:cs typeface="Times New Roman" panose="02020603050405020304" pitchFamily="18" charset="0"/>
              </a:rPr>
              <a:t>Course Code: </a:t>
            </a:r>
            <a:r>
              <a:rPr lang="en-IN" sz="2400" dirty="0">
                <a:latin typeface="Times New Roman" panose="02020603050405020304" pitchFamily="18" charset="0"/>
                <a:cs typeface="Times New Roman" panose="02020603050405020304" pitchFamily="18" charset="0"/>
              </a:rPr>
              <a:t>BTD50112</a:t>
            </a:r>
          </a:p>
          <a:p>
            <a:r>
              <a:rPr lang="en-IN" sz="2400" b="1" dirty="0">
                <a:latin typeface="Times New Roman" panose="02020603050405020304" pitchFamily="18" charset="0"/>
                <a:cs typeface="Times New Roman" panose="02020603050405020304" pitchFamily="18" charset="0"/>
              </a:rPr>
              <a:t>Department: </a:t>
            </a:r>
            <a:r>
              <a:rPr lang="en-IN" sz="2400" dirty="0">
                <a:latin typeface="Times New Roman" panose="02020603050405020304" pitchFamily="18" charset="0"/>
                <a:cs typeface="Times New Roman" panose="02020603050405020304" pitchFamily="18" charset="0"/>
              </a:rPr>
              <a:t>Computer Science &amp; Engineering – Cyber Security &amp; Data Science</a:t>
            </a:r>
          </a:p>
          <a:p>
            <a:r>
              <a:rPr lang="en-IN" sz="2400" b="1" dirty="0">
                <a:latin typeface="Times New Roman" panose="02020603050405020304" pitchFamily="18" charset="0"/>
                <a:ea typeface="Arial Narrow"/>
                <a:cs typeface="Times New Roman" panose="02020603050405020304" pitchFamily="18" charset="0"/>
                <a:sym typeface="Arial Narrow"/>
              </a:rPr>
              <a:t>University Name: </a:t>
            </a:r>
            <a:r>
              <a:rPr lang="en-IN" sz="2400" dirty="0" err="1">
                <a:latin typeface="Times New Roman" panose="02020603050405020304" pitchFamily="18" charset="0"/>
                <a:ea typeface="Arial Narrow"/>
                <a:cs typeface="Times New Roman" panose="02020603050405020304" pitchFamily="18" charset="0"/>
                <a:sym typeface="Arial Narrow"/>
              </a:rPr>
              <a:t>Brainware</a:t>
            </a:r>
            <a:r>
              <a:rPr lang="en-IN" sz="2400" dirty="0">
                <a:latin typeface="Times New Roman" panose="02020603050405020304" pitchFamily="18" charset="0"/>
                <a:ea typeface="Arial Narrow"/>
                <a:cs typeface="Times New Roman" panose="02020603050405020304" pitchFamily="18" charset="0"/>
                <a:sym typeface="Arial Narrow"/>
              </a:rPr>
              <a:t> University</a:t>
            </a: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1B84999-4988-701A-EE2F-8FC7B79515CA}"/>
              </a:ext>
            </a:extLst>
          </p:cNvPr>
          <p:cNvSpPr txBox="1"/>
          <p:nvPr/>
        </p:nvSpPr>
        <p:spPr>
          <a:xfrm>
            <a:off x="4376026" y="4424007"/>
            <a:ext cx="7351775" cy="1569660"/>
          </a:xfrm>
          <a:prstGeom prst="rect">
            <a:avLst/>
          </a:prstGeom>
          <a:noFill/>
        </p:spPr>
        <p:txBody>
          <a:bodyPr wrap="square" rtlCol="0">
            <a:spAutoFit/>
          </a:bodyPr>
          <a:lstStyle/>
          <a:p>
            <a:r>
              <a:rPr lang="en-IN" sz="2400" b="1" dirty="0">
                <a:solidFill>
                  <a:srgbClr val="002060"/>
                </a:solidFill>
                <a:latin typeface="Times New Roman" panose="02020603050405020304" pitchFamily="18" charset="0"/>
                <a:cs typeface="Times New Roman" panose="02020603050405020304" pitchFamily="18" charset="0"/>
              </a:rPr>
              <a:t>Presented By:</a:t>
            </a:r>
          </a:p>
          <a:p>
            <a:r>
              <a:rPr lang="en-IN" sz="2400" dirty="0">
                <a:latin typeface="Times New Roman" panose="02020603050405020304" pitchFamily="18" charset="0"/>
                <a:cs typeface="Times New Roman" panose="02020603050405020304" pitchFamily="18" charset="0"/>
              </a:rPr>
              <a:t>Member 1 – Nabarun Kumar Maity(BWU/BTD/24/077) </a:t>
            </a:r>
          </a:p>
          <a:p>
            <a:r>
              <a:rPr lang="en-IN" sz="2400" dirty="0">
                <a:latin typeface="Times New Roman" panose="02020603050405020304" pitchFamily="18" charset="0"/>
                <a:cs typeface="Times New Roman" panose="02020603050405020304" pitchFamily="18" charset="0"/>
              </a:rPr>
              <a:t>Member 2 – Sneha Modak (BWU/BTD/24/122) </a:t>
            </a:r>
          </a:p>
          <a:p>
            <a:pPr lvl="0"/>
            <a:r>
              <a:rPr lang="en-IN" sz="2400" dirty="0">
                <a:latin typeface="Times New Roman" panose="02020603050405020304" pitchFamily="18" charset="0"/>
                <a:cs typeface="Times New Roman" panose="02020603050405020304" pitchFamily="18" charset="0"/>
              </a:rPr>
              <a:t>Member 3 – Om Kumar Gope (BWU/BTD/24/078) </a:t>
            </a:r>
          </a:p>
        </p:txBody>
      </p:sp>
    </p:spTree>
    <p:extLst>
      <p:ext uri="{BB962C8B-B14F-4D97-AF65-F5344CB8AC3E}">
        <p14:creationId xmlns:p14="http://schemas.microsoft.com/office/powerpoint/2010/main" val="23142461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10790-CF06-19CB-20DF-49C3525BB03E}"/>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29A175A5-2B78-9D4C-9C29-902E4119AC5C}"/>
              </a:ext>
            </a:extLst>
          </p:cNvPr>
          <p:cNvPicPr>
            <a:picLocks noChangeAspect="1"/>
          </p:cNvPicPr>
          <p:nvPr/>
        </p:nvPicPr>
        <p:blipFill>
          <a:blip r:embed="rId2"/>
          <a:stretch>
            <a:fillRect/>
          </a:stretch>
        </p:blipFill>
        <p:spPr>
          <a:xfrm>
            <a:off x="11301985" y="0"/>
            <a:ext cx="890016" cy="890016"/>
          </a:xfrm>
          <a:prstGeom prst="rect">
            <a:avLst/>
          </a:prstGeom>
        </p:spPr>
      </p:pic>
      <p:sp>
        <p:nvSpPr>
          <p:cNvPr id="4" name="Title 3">
            <a:extLst>
              <a:ext uri="{FF2B5EF4-FFF2-40B4-BE49-F238E27FC236}">
                <a16:creationId xmlns:a16="http://schemas.microsoft.com/office/drawing/2014/main" id="{A3426FC3-DFA1-7F61-83FB-656DF1E2C129}"/>
              </a:ext>
            </a:extLst>
          </p:cNvPr>
          <p:cNvSpPr>
            <a:spLocks noGrp="1"/>
          </p:cNvSpPr>
          <p:nvPr>
            <p:ph type="ctrTitle"/>
          </p:nvPr>
        </p:nvSpPr>
        <p:spPr>
          <a:xfrm>
            <a:off x="936978" y="438482"/>
            <a:ext cx="9516533" cy="1045104"/>
          </a:xfrm>
        </p:spPr>
        <p:txBody>
          <a:bodyPr/>
          <a:lstStyle/>
          <a:p>
            <a:pPr algn="l"/>
            <a:r>
              <a:rPr lang="en-IN" dirty="0">
                <a:solidFill>
                  <a:srgbClr val="002060"/>
                </a:solidFill>
                <a:latin typeface="Times New Roman" panose="02020603050405020304" pitchFamily="18" charset="0"/>
                <a:ea typeface="Arial Rounded"/>
                <a:cs typeface="Times New Roman" panose="02020603050405020304" pitchFamily="18" charset="0"/>
                <a:sym typeface="Arial Rounded"/>
              </a:rPr>
              <a:t>Content</a:t>
            </a:r>
            <a:endParaRPr lang="en-US" dirty="0"/>
          </a:p>
        </p:txBody>
      </p:sp>
      <p:sp>
        <p:nvSpPr>
          <p:cNvPr id="7" name="TextBox 6">
            <a:extLst>
              <a:ext uri="{FF2B5EF4-FFF2-40B4-BE49-F238E27FC236}">
                <a16:creationId xmlns:a16="http://schemas.microsoft.com/office/drawing/2014/main" id="{7618C5D8-1292-141C-FDE4-B54A7F38E147}"/>
              </a:ext>
            </a:extLst>
          </p:cNvPr>
          <p:cNvSpPr txBox="1"/>
          <p:nvPr/>
        </p:nvSpPr>
        <p:spPr>
          <a:xfrm>
            <a:off x="1049866" y="1451590"/>
            <a:ext cx="8760178" cy="4893647"/>
          </a:xfrm>
          <a:prstGeom prst="rect">
            <a:avLst/>
          </a:prstGeom>
          <a:noFill/>
        </p:spPr>
        <p:txBody>
          <a:bodyPr wrap="square" rtlCol="0">
            <a:spAutoFit/>
          </a:bodyPr>
          <a:lstStyle/>
          <a:p>
            <a:pPr marL="285750" indent="-285750">
              <a:buFont typeface="Wingdings" pitchFamily="2" charset="2"/>
              <a:buChar char="Ø"/>
            </a:pPr>
            <a:r>
              <a:rPr lang="en-IN" sz="2400" dirty="0">
                <a:latin typeface="Times New Roman" panose="02020603050405020304" pitchFamily="18" charset="0"/>
                <a:cs typeface="Times New Roman" panose="02020603050405020304" pitchFamily="18" charset="0"/>
              </a:rPr>
              <a:t>Objective with Question</a:t>
            </a:r>
          </a:p>
          <a:p>
            <a:pPr marL="285750" indent="-285750">
              <a:buFont typeface="Wingdings" pitchFamily="2" charset="2"/>
              <a:buChar char="Ø"/>
            </a:pPr>
            <a:r>
              <a:rPr lang="en-IN" sz="2400" dirty="0">
                <a:latin typeface="Times New Roman" panose="02020603050405020304" pitchFamily="18" charset="0"/>
                <a:cs typeface="Times New Roman" panose="02020603050405020304" pitchFamily="18" charset="0"/>
              </a:rPr>
              <a:t>Real Life Connection</a:t>
            </a:r>
          </a:p>
          <a:p>
            <a:pPr marL="285750" indent="-285750">
              <a:buFont typeface="Wingdings" pitchFamily="2" charset="2"/>
              <a:buChar char="Ø"/>
            </a:pPr>
            <a:r>
              <a:rPr lang="en-IN" sz="2400" dirty="0">
                <a:latin typeface="Times New Roman" panose="02020603050405020304" pitchFamily="18" charset="0"/>
                <a:cs typeface="Times New Roman" panose="02020603050405020304" pitchFamily="18" charset="0"/>
              </a:rPr>
              <a:t>Project Target and Explanation</a:t>
            </a:r>
          </a:p>
          <a:p>
            <a:pPr marL="285750" indent="-285750">
              <a:buFont typeface="Wingdings" pitchFamily="2" charset="2"/>
              <a:buChar char="Ø"/>
            </a:pPr>
            <a:r>
              <a:rPr lang="en-IN" sz="2400" dirty="0">
                <a:latin typeface="Times New Roman" panose="02020603050405020304" pitchFamily="18" charset="0"/>
                <a:cs typeface="Times New Roman" panose="02020603050405020304" pitchFamily="18" charset="0"/>
              </a:rPr>
              <a:t>Diagram Overview (RIP)</a:t>
            </a:r>
          </a:p>
          <a:p>
            <a:pPr marL="285750" indent="-285750">
              <a:buFont typeface="Wingdings" pitchFamily="2" charset="2"/>
              <a:buChar char="Ø"/>
            </a:pPr>
            <a:r>
              <a:rPr lang="en-IN" sz="2400" dirty="0">
                <a:latin typeface="Times New Roman" panose="02020603050405020304" pitchFamily="18" charset="0"/>
                <a:cs typeface="Times New Roman" panose="02020603050405020304" pitchFamily="18" charset="0"/>
              </a:rPr>
              <a:t>Demonstration &amp; CLI (RIP)</a:t>
            </a:r>
          </a:p>
          <a:p>
            <a:pPr marL="285750" indent="-285750">
              <a:buFont typeface="Wingdings" pitchFamily="2" charset="2"/>
              <a:buChar char="Ø"/>
            </a:pPr>
            <a:r>
              <a:rPr lang="en-IN" sz="2400" dirty="0">
                <a:latin typeface="Times New Roman" panose="02020603050405020304" pitchFamily="18" charset="0"/>
                <a:cs typeface="Times New Roman" panose="02020603050405020304" pitchFamily="18" charset="0"/>
              </a:rPr>
              <a:t>Diagram Overview (OSPF)</a:t>
            </a:r>
          </a:p>
          <a:p>
            <a:pPr marL="285750" indent="-285750">
              <a:buFont typeface="Wingdings" pitchFamily="2" charset="2"/>
              <a:buChar char="Ø"/>
            </a:pPr>
            <a:r>
              <a:rPr lang="en-IN" sz="2400" dirty="0">
                <a:latin typeface="Times New Roman" panose="02020603050405020304" pitchFamily="18" charset="0"/>
                <a:cs typeface="Times New Roman" panose="02020603050405020304" pitchFamily="18" charset="0"/>
              </a:rPr>
              <a:t>Demonstration &amp; CLI (OSPF)</a:t>
            </a:r>
          </a:p>
          <a:p>
            <a:pPr marL="285750" indent="-285750">
              <a:buFont typeface="Wingdings" pitchFamily="2" charset="2"/>
              <a:buChar char="Ø"/>
            </a:pPr>
            <a:r>
              <a:rPr lang="en-IN" sz="2400" dirty="0">
                <a:latin typeface="Times New Roman" panose="02020603050405020304" pitchFamily="18" charset="0"/>
                <a:cs typeface="Times New Roman" panose="02020603050405020304" pitchFamily="18" charset="0"/>
              </a:rPr>
              <a:t>Comparison</a:t>
            </a:r>
          </a:p>
          <a:p>
            <a:pPr marL="285750" indent="-285750">
              <a:buFont typeface="Wingdings" pitchFamily="2" charset="2"/>
              <a:buChar char="Ø"/>
            </a:pPr>
            <a:r>
              <a:rPr lang="en-IN" sz="2400" dirty="0">
                <a:latin typeface="Times New Roman" panose="02020603050405020304" pitchFamily="18" charset="0"/>
                <a:cs typeface="Times New Roman" panose="02020603050405020304" pitchFamily="18" charset="0"/>
              </a:rPr>
              <a:t>Convergence &amp; Performance Analysis</a:t>
            </a:r>
          </a:p>
          <a:p>
            <a:pPr marL="285750" indent="-285750">
              <a:buFont typeface="Wingdings" pitchFamily="2" charset="2"/>
              <a:buChar char="Ø"/>
            </a:pPr>
            <a:r>
              <a:rPr lang="en-IN" sz="2400" dirty="0">
                <a:latin typeface="Times New Roman" panose="02020603050405020304" pitchFamily="18" charset="0"/>
                <a:cs typeface="Times New Roman" panose="02020603050405020304" pitchFamily="18" charset="0"/>
              </a:rPr>
              <a:t>Result &amp; Preferred Protocol</a:t>
            </a:r>
          </a:p>
          <a:p>
            <a:pPr marL="285750" indent="-285750">
              <a:buFont typeface="Wingdings" pitchFamily="2" charset="2"/>
              <a:buChar char="Ø"/>
            </a:pPr>
            <a:r>
              <a:rPr lang="en-IN" sz="2400" dirty="0">
                <a:latin typeface="Times New Roman" panose="02020603050405020304" pitchFamily="18" charset="0"/>
                <a:cs typeface="Times New Roman" panose="02020603050405020304" pitchFamily="18" charset="0"/>
              </a:rPr>
              <a:t>Conclusion &amp; Learning</a:t>
            </a:r>
          </a:p>
          <a:p>
            <a:pPr marL="285750" indent="-285750">
              <a:buFont typeface="Wingdings" pitchFamily="2" charset="2"/>
              <a:buChar char="Ø"/>
            </a:pPr>
            <a:r>
              <a:rPr lang="en-US" sz="2400" dirty="0">
                <a:latin typeface="Times New Roman" panose="02020603050405020304" pitchFamily="18" charset="0"/>
                <a:cs typeface="Times New Roman" panose="02020603050405020304" pitchFamily="18" charset="0"/>
              </a:rPr>
              <a:t>Future Scope </a:t>
            </a:r>
          </a:p>
          <a:p>
            <a:pPr marL="285750" indent="-285750">
              <a:buFont typeface="Wingdings" pitchFamily="2" charset="2"/>
              <a:buChar char="Ø"/>
            </a:pPr>
            <a:r>
              <a:rPr lang="en-IN" sz="2400" dirty="0">
                <a:latin typeface="Times New Roman" panose="02020603050405020304" pitchFamily="18" charset="0"/>
                <a:cs typeface="Times New Roman" panose="02020603050405020304" pitchFamily="18" charset="0"/>
              </a:rPr>
              <a:t>References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7489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6865F-E49D-C1F6-6340-7FD92F8AF2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3F43EA-7BE4-F931-0E1B-CCA0CFAA880B}"/>
              </a:ext>
            </a:extLst>
          </p:cNvPr>
          <p:cNvSpPr>
            <a:spLocks noGrp="1"/>
          </p:cNvSpPr>
          <p:nvPr>
            <p:ph type="ctrTitle"/>
          </p:nvPr>
        </p:nvSpPr>
        <p:spPr>
          <a:xfrm>
            <a:off x="731520" y="780986"/>
            <a:ext cx="10570465" cy="889317"/>
          </a:xfrm>
        </p:spPr>
        <p:txBody>
          <a:bodyPr>
            <a:noAutofit/>
          </a:bodyPr>
          <a:lstStyle/>
          <a:p>
            <a:pPr algn="l"/>
            <a:r>
              <a:rPr lang="en-IN" dirty="0">
                <a:solidFill>
                  <a:srgbClr val="002060"/>
                </a:solidFill>
                <a:latin typeface="Times New Roman" panose="02020603050405020304" pitchFamily="18" charset="0"/>
                <a:cs typeface="Times New Roman" panose="02020603050405020304" pitchFamily="18" charset="0"/>
              </a:rPr>
              <a:t>Objective with Question</a:t>
            </a:r>
            <a:endParaRPr lang="en-US" dirty="0">
              <a:solidFill>
                <a:srgbClr val="00206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F4A846E2-3289-C7CA-5F48-D605993B9230}"/>
              </a:ext>
            </a:extLst>
          </p:cNvPr>
          <p:cNvSpPr>
            <a:spLocks noGrp="1"/>
          </p:cNvSpPr>
          <p:nvPr>
            <p:ph type="subTitle" idx="1"/>
          </p:nvPr>
        </p:nvSpPr>
        <p:spPr>
          <a:xfrm>
            <a:off x="731520" y="1758696"/>
            <a:ext cx="10838688" cy="4476814"/>
          </a:xfrm>
        </p:spPr>
        <p:txBody>
          <a:bodyPr>
            <a:noAutofit/>
          </a:bodyPr>
          <a:lstStyle/>
          <a:p>
            <a:pPr algn="l"/>
            <a:r>
              <a:rPr lang="en-IN" b="1" dirty="0">
                <a:latin typeface="Times New Roman" panose="02020603050405020304" pitchFamily="18" charset="0"/>
                <a:cs typeface="Times New Roman" panose="02020603050405020304" pitchFamily="18" charset="0"/>
              </a:rPr>
              <a:t>Problem Statement: </a:t>
            </a:r>
            <a:r>
              <a:rPr lang="en-IN" sz="2200" dirty="0">
                <a:latin typeface="Times New Roman" panose="02020603050405020304" pitchFamily="18" charset="0"/>
                <a:cs typeface="Times New Roman" panose="02020603050405020304" pitchFamily="18" charset="0"/>
              </a:rPr>
              <a:t>How can a university connect multiple departments using dynamic routing and determine whether RIP or OSPF provides better performance?</a:t>
            </a:r>
          </a:p>
          <a:p>
            <a:pPr algn="l">
              <a:spcAft>
                <a:spcPts val="500"/>
              </a:spcAft>
            </a:pPr>
            <a:r>
              <a:rPr lang="en-IN" b="1" dirty="0">
                <a:latin typeface="Times New Roman" panose="02020603050405020304" pitchFamily="18" charset="0"/>
                <a:cs typeface="Times New Roman" panose="02020603050405020304" pitchFamily="18" charset="0"/>
              </a:rPr>
              <a:t>Objectives:</a:t>
            </a:r>
          </a:p>
          <a:p>
            <a:pPr marL="800100" lvl="1" indent="-342900" algn="l">
              <a:lnSpc>
                <a:spcPct val="80000"/>
              </a:lnSpc>
              <a:spcBef>
                <a:spcPts val="400"/>
              </a:spcBef>
              <a:buFont typeface="Wingdings" pitchFamily="2" charset="2"/>
              <a:buChar char="Ø"/>
            </a:pPr>
            <a:r>
              <a:rPr lang="en-IN" sz="2200" dirty="0">
                <a:latin typeface="Times New Roman" panose="02020603050405020304" pitchFamily="18" charset="0"/>
                <a:cs typeface="Times New Roman" panose="02020603050405020304" pitchFamily="18" charset="0"/>
              </a:rPr>
              <a:t>Design a multi-router university network connecting different departments.</a:t>
            </a:r>
          </a:p>
          <a:p>
            <a:pPr marL="800100" lvl="1" indent="-342900" algn="l">
              <a:lnSpc>
                <a:spcPct val="80000"/>
              </a:lnSpc>
              <a:spcBef>
                <a:spcPts val="400"/>
              </a:spcBef>
              <a:buFont typeface="Wingdings" pitchFamily="2" charset="2"/>
              <a:buChar char="Ø"/>
            </a:pPr>
            <a:r>
              <a:rPr lang="en-IN" sz="2200" dirty="0">
                <a:latin typeface="Times New Roman" panose="02020603050405020304" pitchFamily="18" charset="0"/>
                <a:cs typeface="Times New Roman" panose="02020603050405020304" pitchFamily="18" charset="0"/>
              </a:rPr>
              <a:t>Configure IP addressing for routers and end devices.</a:t>
            </a:r>
          </a:p>
          <a:p>
            <a:pPr marL="800100" lvl="1" indent="-342900" algn="l">
              <a:lnSpc>
                <a:spcPct val="80000"/>
              </a:lnSpc>
              <a:spcBef>
                <a:spcPts val="400"/>
              </a:spcBef>
              <a:buFont typeface="Wingdings" pitchFamily="2" charset="2"/>
              <a:buChar char="Ø"/>
            </a:pPr>
            <a:r>
              <a:rPr lang="en-IN" sz="2200" dirty="0">
                <a:latin typeface="Times New Roman" panose="02020603050405020304" pitchFamily="18" charset="0"/>
                <a:cs typeface="Times New Roman" panose="02020603050405020304" pitchFamily="18" charset="0"/>
              </a:rPr>
              <a:t>Implement and test RIP and OSPF routing protocols.</a:t>
            </a:r>
          </a:p>
          <a:p>
            <a:pPr marL="800100" lvl="1" indent="-342900" algn="l">
              <a:lnSpc>
                <a:spcPct val="80000"/>
              </a:lnSpc>
              <a:spcBef>
                <a:spcPts val="400"/>
              </a:spcBef>
              <a:buFont typeface="Wingdings" pitchFamily="2" charset="2"/>
              <a:buChar char="Ø"/>
            </a:pPr>
            <a:r>
              <a:rPr lang="en-IN" sz="2200" dirty="0" err="1">
                <a:latin typeface="Times New Roman" panose="02020603050405020304" pitchFamily="18" charset="0"/>
                <a:cs typeface="Times New Roman" panose="02020603050405020304" pitchFamily="18" charset="0"/>
              </a:rPr>
              <a:t>Analyze</a:t>
            </a:r>
            <a:r>
              <a:rPr lang="en-IN" sz="2200" dirty="0">
                <a:latin typeface="Times New Roman" panose="02020603050405020304" pitchFamily="18" charset="0"/>
                <a:cs typeface="Times New Roman" panose="02020603050405020304" pitchFamily="18" charset="0"/>
              </a:rPr>
              <a:t> route learning and path selection mechanisms.</a:t>
            </a:r>
          </a:p>
          <a:p>
            <a:pPr marL="800100" lvl="1" indent="-342900" algn="l">
              <a:lnSpc>
                <a:spcPct val="80000"/>
              </a:lnSpc>
              <a:spcBef>
                <a:spcPts val="400"/>
              </a:spcBef>
              <a:buFont typeface="Wingdings" pitchFamily="2" charset="2"/>
              <a:buChar char="Ø"/>
            </a:pPr>
            <a:r>
              <a:rPr lang="en-IN" sz="2200" dirty="0">
                <a:latin typeface="Times New Roman" panose="02020603050405020304" pitchFamily="18" charset="0"/>
                <a:cs typeface="Times New Roman" panose="02020603050405020304" pitchFamily="18" charset="0"/>
              </a:rPr>
              <a:t>Compare convergence speed and network scalability.</a:t>
            </a:r>
          </a:p>
          <a:p>
            <a:pPr marL="800100" lvl="1" indent="-342900" algn="l">
              <a:lnSpc>
                <a:spcPct val="80000"/>
              </a:lnSpc>
              <a:spcBef>
                <a:spcPts val="400"/>
              </a:spcBef>
              <a:buFont typeface="Wingdings" pitchFamily="2" charset="2"/>
              <a:buChar char="Ø"/>
            </a:pPr>
            <a:r>
              <a:rPr lang="en-IN" sz="2200" dirty="0">
                <a:latin typeface="Times New Roman" panose="02020603050405020304" pitchFamily="18" charset="0"/>
                <a:cs typeface="Times New Roman" panose="02020603050405020304" pitchFamily="18" charset="0"/>
              </a:rPr>
              <a:t>Determine the most suitable routing protocol for a university environment.</a:t>
            </a:r>
          </a:p>
          <a:p>
            <a:pPr algn="l"/>
            <a:r>
              <a:rPr lang="en-IN" b="1" dirty="0">
                <a:latin typeface="Times New Roman" panose="02020603050405020304" pitchFamily="18" charset="0"/>
                <a:cs typeface="Times New Roman" panose="02020603050405020304" pitchFamily="18" charset="0"/>
              </a:rPr>
              <a:t>Expected Outcome: </a:t>
            </a:r>
            <a:r>
              <a:rPr lang="en-IN" sz="2200" dirty="0">
                <a:latin typeface="Times New Roman" panose="02020603050405020304" pitchFamily="18" charset="0"/>
                <a:cs typeface="Times New Roman" panose="02020603050405020304" pitchFamily="18" charset="0"/>
              </a:rPr>
              <a:t>Evaluate the performance of RIP and OSPF and identify the preferred protocol for efficient inter-department communication.</a:t>
            </a:r>
          </a:p>
          <a:p>
            <a:pPr algn="l"/>
            <a:endParaRPr lang="en-US" sz="22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3342CC02-AAFD-8B85-9F6E-73EA0EBC3EBF}"/>
              </a:ext>
            </a:extLst>
          </p:cNvPr>
          <p:cNvPicPr>
            <a:picLocks noChangeAspect="1"/>
          </p:cNvPicPr>
          <p:nvPr/>
        </p:nvPicPr>
        <p:blipFill>
          <a:blip r:embed="rId2"/>
          <a:stretch>
            <a:fillRect/>
          </a:stretch>
        </p:blipFill>
        <p:spPr>
          <a:xfrm>
            <a:off x="11301985" y="0"/>
            <a:ext cx="890016" cy="890016"/>
          </a:xfrm>
          <a:prstGeom prst="rect">
            <a:avLst/>
          </a:prstGeom>
        </p:spPr>
      </p:pic>
    </p:spTree>
    <p:extLst>
      <p:ext uri="{BB962C8B-B14F-4D97-AF65-F5344CB8AC3E}">
        <p14:creationId xmlns:p14="http://schemas.microsoft.com/office/powerpoint/2010/main" val="7163889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28E95-25DB-F28C-F0BF-63A93982A0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1BDFBE-7AF8-1727-9FB4-9097393FBBA3}"/>
              </a:ext>
            </a:extLst>
          </p:cNvPr>
          <p:cNvSpPr>
            <a:spLocks noGrp="1"/>
          </p:cNvSpPr>
          <p:nvPr>
            <p:ph type="ctrTitle"/>
          </p:nvPr>
        </p:nvSpPr>
        <p:spPr>
          <a:xfrm>
            <a:off x="755905" y="768096"/>
            <a:ext cx="10546079" cy="913701"/>
          </a:xfrm>
        </p:spPr>
        <p:txBody>
          <a:bodyPr>
            <a:noAutofit/>
          </a:bodyPr>
          <a:lstStyle/>
          <a:p>
            <a:pPr algn="l"/>
            <a:r>
              <a:rPr lang="en-IN" dirty="0">
                <a:solidFill>
                  <a:srgbClr val="002060"/>
                </a:solidFill>
                <a:latin typeface="Times New Roman" panose="02020603050405020304" pitchFamily="18" charset="0"/>
                <a:cs typeface="Times New Roman" panose="02020603050405020304" pitchFamily="18" charset="0"/>
              </a:rPr>
              <a:t>Real Life Connection</a:t>
            </a:r>
            <a:endParaRPr lang="en-US" dirty="0">
              <a:solidFill>
                <a:srgbClr val="00206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9B973BD-5198-A245-1AED-CA3E08A6B487}"/>
              </a:ext>
            </a:extLst>
          </p:cNvPr>
          <p:cNvSpPr>
            <a:spLocks noGrp="1"/>
          </p:cNvSpPr>
          <p:nvPr>
            <p:ph type="subTitle" idx="1"/>
          </p:nvPr>
        </p:nvSpPr>
        <p:spPr>
          <a:xfrm>
            <a:off x="755905" y="1840992"/>
            <a:ext cx="10948416" cy="4011168"/>
          </a:xfrm>
        </p:spPr>
        <p:txBody>
          <a:bodyPr>
            <a:normAutofit fontScale="25000" lnSpcReduction="20000"/>
          </a:bodyPr>
          <a:lstStyle/>
          <a:p>
            <a:pPr algn="l">
              <a:spcBef>
                <a:spcPts val="800"/>
              </a:spcBef>
              <a:spcAft>
                <a:spcPts val="600"/>
              </a:spcAft>
            </a:pPr>
            <a:r>
              <a:rPr lang="en-IN" sz="9600" b="1" dirty="0">
                <a:latin typeface="Times New Roman" panose="02020603050405020304" pitchFamily="18" charset="0"/>
                <a:cs typeface="Times New Roman" panose="02020603050405020304" pitchFamily="18" charset="0"/>
              </a:rPr>
              <a:t>Real-World Scenario:</a:t>
            </a:r>
            <a:r>
              <a:rPr lang="en-IN" sz="8800" dirty="0">
                <a:latin typeface="Times New Roman" panose="02020603050405020304" pitchFamily="18" charset="0"/>
                <a:cs typeface="Times New Roman" panose="02020603050405020304" pitchFamily="18" charset="0"/>
              </a:rPr>
              <a:t> A university consists of three geographically separated departments:</a:t>
            </a:r>
          </a:p>
          <a:p>
            <a:pPr marL="1279800" lvl="4" indent="-387000" algn="l">
              <a:buFont typeface="Wingdings" pitchFamily="2" charset="2"/>
              <a:buChar char="Ø"/>
            </a:pPr>
            <a:r>
              <a:rPr lang="en-IN" sz="8800" dirty="0">
                <a:latin typeface="Times New Roman" panose="02020603050405020304" pitchFamily="18" charset="0"/>
                <a:cs typeface="Times New Roman" panose="02020603050405020304" pitchFamily="18" charset="0"/>
              </a:rPr>
              <a:t>Academic Department</a:t>
            </a:r>
          </a:p>
          <a:p>
            <a:pPr marL="1279800" lvl="4" indent="-387000" algn="l">
              <a:buFont typeface="Wingdings" pitchFamily="2" charset="2"/>
              <a:buChar char="Ø"/>
            </a:pPr>
            <a:r>
              <a:rPr lang="en-IN" sz="8800" dirty="0">
                <a:latin typeface="Times New Roman" panose="02020603050405020304" pitchFamily="18" charset="0"/>
                <a:cs typeface="Times New Roman" panose="02020603050405020304" pitchFamily="18" charset="0"/>
              </a:rPr>
              <a:t>Administrative Department</a:t>
            </a:r>
          </a:p>
          <a:p>
            <a:pPr marL="1279800" lvl="4" indent="-387000" algn="l">
              <a:buFont typeface="Wingdings" pitchFamily="2" charset="2"/>
              <a:buChar char="Ø"/>
            </a:pPr>
            <a:r>
              <a:rPr lang="en-IN" sz="8800" dirty="0">
                <a:latin typeface="Times New Roman" panose="02020603050405020304" pitchFamily="18" charset="0"/>
                <a:cs typeface="Times New Roman" panose="02020603050405020304" pitchFamily="18" charset="0"/>
              </a:rPr>
              <a:t>Research Department</a:t>
            </a:r>
          </a:p>
          <a:p>
            <a:pPr algn="l">
              <a:spcAft>
                <a:spcPts val="1500"/>
              </a:spcAft>
            </a:pPr>
            <a:r>
              <a:rPr lang="en-IN" sz="8800" dirty="0">
                <a:latin typeface="Times New Roman" panose="02020603050405020304" pitchFamily="18" charset="0"/>
                <a:cs typeface="Times New Roman" panose="02020603050405020304" pitchFamily="18" charset="0"/>
              </a:rPr>
              <a:t>Each department operates on a separate LAN and requires communication with the others.</a:t>
            </a:r>
          </a:p>
          <a:p>
            <a:pPr algn="l"/>
            <a:r>
              <a:rPr lang="en-IN" sz="9600" b="1" dirty="0">
                <a:latin typeface="Times New Roman" panose="02020603050405020304" pitchFamily="18" charset="0"/>
                <a:cs typeface="Times New Roman" panose="02020603050405020304" pitchFamily="18" charset="0"/>
              </a:rPr>
              <a:t>Need:</a:t>
            </a:r>
          </a:p>
          <a:p>
            <a:pPr marL="1301400" lvl="2" indent="-387000" algn="l">
              <a:buFont typeface="Wingdings" pitchFamily="2" charset="2"/>
              <a:buChar char="Ø"/>
            </a:pPr>
            <a:r>
              <a:rPr lang="en-IN" sz="9000" dirty="0">
                <a:latin typeface="Times New Roman" panose="02020603050405020304" pitchFamily="18" charset="0"/>
                <a:cs typeface="Times New Roman" panose="02020603050405020304" pitchFamily="18" charset="0"/>
              </a:rPr>
              <a:t>Centralized communication.</a:t>
            </a:r>
          </a:p>
          <a:p>
            <a:pPr marL="1301400" lvl="2" indent="-387000" algn="l">
              <a:buFont typeface="Wingdings" pitchFamily="2" charset="2"/>
              <a:buChar char="Ø"/>
            </a:pPr>
            <a:r>
              <a:rPr lang="en-IN" sz="9000" dirty="0">
                <a:latin typeface="Times New Roman" panose="02020603050405020304" pitchFamily="18" charset="0"/>
                <a:cs typeface="Times New Roman" panose="02020603050405020304" pitchFamily="18" charset="0"/>
              </a:rPr>
              <a:t>Reliable data transfer.</a:t>
            </a:r>
          </a:p>
          <a:p>
            <a:pPr marL="1301400" lvl="2" indent="-387000" algn="l">
              <a:buFont typeface="Wingdings" pitchFamily="2" charset="2"/>
              <a:buChar char="Ø"/>
            </a:pPr>
            <a:r>
              <a:rPr lang="en-IN" sz="9000" dirty="0">
                <a:latin typeface="Times New Roman" panose="02020603050405020304" pitchFamily="18" charset="0"/>
                <a:cs typeface="Times New Roman" panose="02020603050405020304" pitchFamily="18" charset="0"/>
              </a:rPr>
              <a:t>Automatic route updates.</a:t>
            </a:r>
          </a:p>
          <a:p>
            <a:pPr marL="1301400" lvl="2" indent="-387000" algn="l">
              <a:buFont typeface="Wingdings" pitchFamily="2" charset="2"/>
              <a:buChar char="Ø"/>
            </a:pPr>
            <a:r>
              <a:rPr lang="en-IN" sz="9000" dirty="0">
                <a:latin typeface="Times New Roman" panose="02020603050405020304" pitchFamily="18" charset="0"/>
                <a:cs typeface="Times New Roman" panose="02020603050405020304" pitchFamily="18" charset="0"/>
              </a:rPr>
              <a:t>Efficient network management.</a:t>
            </a:r>
          </a:p>
          <a:p>
            <a:pPr algn="l">
              <a:spcAft>
                <a:spcPts val="600"/>
              </a:spcAft>
            </a:pPr>
            <a:r>
              <a:rPr lang="en-IN" sz="8800" dirty="0">
                <a:latin typeface="Times New Roman" panose="02020603050405020304" pitchFamily="18" charset="0"/>
                <a:cs typeface="Times New Roman" panose="02020603050405020304" pitchFamily="18" charset="0"/>
              </a:rPr>
              <a:t>    Dynamic routing protocols such as RIP and OSPF are used to achieve seamless connectivity and determine the best communication path.</a:t>
            </a:r>
          </a:p>
          <a:p>
            <a:endParaRPr lang="en-US" dirty="0"/>
          </a:p>
        </p:txBody>
      </p:sp>
      <p:pic>
        <p:nvPicPr>
          <p:cNvPr id="6" name="Picture 5">
            <a:extLst>
              <a:ext uri="{FF2B5EF4-FFF2-40B4-BE49-F238E27FC236}">
                <a16:creationId xmlns:a16="http://schemas.microsoft.com/office/drawing/2014/main" id="{5736DFB0-C843-638F-CD5D-005708A1E849}"/>
              </a:ext>
            </a:extLst>
          </p:cNvPr>
          <p:cNvPicPr>
            <a:picLocks noChangeAspect="1"/>
          </p:cNvPicPr>
          <p:nvPr/>
        </p:nvPicPr>
        <p:blipFill>
          <a:blip r:embed="rId2"/>
          <a:stretch>
            <a:fillRect/>
          </a:stretch>
        </p:blipFill>
        <p:spPr>
          <a:xfrm>
            <a:off x="11301985" y="0"/>
            <a:ext cx="890016" cy="890016"/>
          </a:xfrm>
          <a:prstGeom prst="rect">
            <a:avLst/>
          </a:prstGeom>
        </p:spPr>
      </p:pic>
    </p:spTree>
    <p:extLst>
      <p:ext uri="{BB962C8B-B14F-4D97-AF65-F5344CB8AC3E}">
        <p14:creationId xmlns:p14="http://schemas.microsoft.com/office/powerpoint/2010/main" val="2707763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D9E6C-AEFC-2D37-A9E6-AB395EEF42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C93FDB-C791-2CCE-DC30-54BE82917D46}"/>
              </a:ext>
            </a:extLst>
          </p:cNvPr>
          <p:cNvSpPr>
            <a:spLocks noGrp="1"/>
          </p:cNvSpPr>
          <p:nvPr>
            <p:ph type="ctrTitle"/>
          </p:nvPr>
        </p:nvSpPr>
        <p:spPr>
          <a:xfrm>
            <a:off x="743714" y="877824"/>
            <a:ext cx="10558271" cy="890016"/>
          </a:xfrm>
        </p:spPr>
        <p:txBody>
          <a:bodyPr>
            <a:noAutofit/>
          </a:bodyPr>
          <a:lstStyle/>
          <a:p>
            <a:pPr algn="l"/>
            <a:r>
              <a:rPr lang="en-IN" dirty="0">
                <a:solidFill>
                  <a:srgbClr val="002060"/>
                </a:solidFill>
                <a:latin typeface="Times New Roman" panose="02020603050405020304" pitchFamily="18" charset="0"/>
                <a:cs typeface="Times New Roman" panose="02020603050405020304" pitchFamily="18" charset="0"/>
              </a:rPr>
              <a:t>Project Target and Explanation</a:t>
            </a:r>
            <a:endParaRPr lang="en-US" dirty="0">
              <a:solidFill>
                <a:srgbClr val="00206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1A93297B-DEAE-7A2E-C67C-795FB340B24A}"/>
              </a:ext>
            </a:extLst>
          </p:cNvPr>
          <p:cNvSpPr>
            <a:spLocks noGrp="1"/>
          </p:cNvSpPr>
          <p:nvPr>
            <p:ph type="subTitle" idx="1"/>
          </p:nvPr>
        </p:nvSpPr>
        <p:spPr>
          <a:xfrm>
            <a:off x="743714" y="1926336"/>
            <a:ext cx="10680190" cy="3535680"/>
          </a:xfrm>
        </p:spPr>
        <p:txBody>
          <a:bodyPr>
            <a:normAutofit fontScale="25000" lnSpcReduction="20000"/>
          </a:bodyPr>
          <a:lstStyle/>
          <a:p>
            <a:pPr algn="l">
              <a:spcAft>
                <a:spcPts val="500"/>
              </a:spcAft>
            </a:pPr>
            <a:r>
              <a:rPr lang="en-IN" sz="9600" b="1" dirty="0">
                <a:latin typeface="Times New Roman" panose="02020603050405020304" pitchFamily="18" charset="0"/>
                <a:cs typeface="Times New Roman" panose="02020603050405020304" pitchFamily="18" charset="0"/>
              </a:rPr>
              <a:t>Project Targets:</a:t>
            </a:r>
          </a:p>
          <a:p>
            <a:pPr marL="844200" lvl="1" indent="-387000" algn="l">
              <a:buFont typeface="Wingdings" pitchFamily="2" charset="2"/>
              <a:buChar char="Ø"/>
            </a:pPr>
            <a:r>
              <a:rPr lang="en-IN" sz="9000" dirty="0">
                <a:latin typeface="Times New Roman" panose="02020603050405020304" pitchFamily="18" charset="0"/>
                <a:cs typeface="Times New Roman" panose="02020603050405020304" pitchFamily="18" charset="0"/>
              </a:rPr>
              <a:t>Design a 3-router university network in Cisco Packet Tracer.</a:t>
            </a:r>
          </a:p>
          <a:p>
            <a:pPr marL="844200" lvl="1" indent="-387000" algn="l">
              <a:buFont typeface="Wingdings" pitchFamily="2" charset="2"/>
              <a:buChar char="Ø"/>
            </a:pPr>
            <a:r>
              <a:rPr lang="en-IN" sz="9000" dirty="0">
                <a:latin typeface="Times New Roman" panose="02020603050405020304" pitchFamily="18" charset="0"/>
                <a:cs typeface="Times New Roman" panose="02020603050405020304" pitchFamily="18" charset="0"/>
              </a:rPr>
              <a:t>Configure IP addresses for routers and PCs.</a:t>
            </a:r>
          </a:p>
          <a:p>
            <a:pPr marL="844200" lvl="1" indent="-387000" algn="l">
              <a:buFont typeface="Wingdings" pitchFamily="2" charset="2"/>
              <a:buChar char="Ø"/>
            </a:pPr>
            <a:r>
              <a:rPr lang="en-IN" sz="9000" dirty="0">
                <a:latin typeface="Times New Roman" panose="02020603050405020304" pitchFamily="18" charset="0"/>
                <a:cs typeface="Times New Roman" panose="02020603050405020304" pitchFamily="18" charset="0"/>
              </a:rPr>
              <a:t>Implement RIP and OSPF routing protocols.</a:t>
            </a:r>
          </a:p>
          <a:p>
            <a:pPr marL="844200" lvl="1" indent="-387000" algn="l">
              <a:buFont typeface="Wingdings" pitchFamily="2" charset="2"/>
              <a:buChar char="Ø"/>
            </a:pPr>
            <a:r>
              <a:rPr lang="en-IN" sz="9000" dirty="0">
                <a:latin typeface="Times New Roman" panose="02020603050405020304" pitchFamily="18" charset="0"/>
                <a:cs typeface="Times New Roman" panose="02020603050405020304" pitchFamily="18" charset="0"/>
              </a:rPr>
              <a:t>Verify routing table updates and connectivity.</a:t>
            </a:r>
          </a:p>
          <a:p>
            <a:pPr marL="844200" lvl="1" indent="-387000" algn="l">
              <a:buFont typeface="Wingdings" pitchFamily="2" charset="2"/>
              <a:buChar char="Ø"/>
            </a:pPr>
            <a:r>
              <a:rPr lang="en-IN" sz="9000" dirty="0">
                <a:latin typeface="Times New Roman" panose="02020603050405020304" pitchFamily="18" charset="0"/>
                <a:cs typeface="Times New Roman" panose="02020603050405020304" pitchFamily="18" charset="0"/>
              </a:rPr>
              <a:t>Perform packet transfer testing.</a:t>
            </a:r>
          </a:p>
          <a:p>
            <a:pPr marL="844200" lvl="1" indent="-387000" algn="l">
              <a:buFont typeface="Wingdings" pitchFamily="2" charset="2"/>
              <a:buChar char="Ø"/>
            </a:pPr>
            <a:r>
              <a:rPr lang="en-IN" sz="9000" dirty="0">
                <a:latin typeface="Times New Roman" panose="02020603050405020304" pitchFamily="18" charset="0"/>
                <a:cs typeface="Times New Roman" panose="02020603050405020304" pitchFamily="18" charset="0"/>
              </a:rPr>
              <a:t>Compare the performance of both protocols.</a:t>
            </a:r>
          </a:p>
          <a:p>
            <a:pPr marL="844200" lvl="1" indent="-387000" algn="l">
              <a:buFont typeface="Wingdings" pitchFamily="2" charset="2"/>
              <a:buChar char="Ø"/>
            </a:pPr>
            <a:r>
              <a:rPr lang="en-IN" sz="9000" dirty="0">
                <a:latin typeface="Times New Roman" panose="02020603050405020304" pitchFamily="18" charset="0"/>
                <a:cs typeface="Times New Roman" panose="02020603050405020304" pitchFamily="18" charset="0"/>
              </a:rPr>
              <a:t>Identify the most suitable routing protocol.</a:t>
            </a:r>
          </a:p>
          <a:p>
            <a:pPr algn="l">
              <a:lnSpc>
                <a:spcPct val="105000"/>
              </a:lnSpc>
              <a:spcAft>
                <a:spcPts val="500"/>
              </a:spcAft>
            </a:pPr>
            <a:r>
              <a:rPr lang="en-IN" sz="9600" b="1" dirty="0">
                <a:latin typeface="Times New Roman" panose="02020603050405020304" pitchFamily="18" charset="0"/>
                <a:cs typeface="Times New Roman" panose="02020603050405020304" pitchFamily="18" charset="0"/>
              </a:rPr>
              <a:t>Project Explanation: </a:t>
            </a:r>
            <a:r>
              <a:rPr lang="en-IN" sz="8800" dirty="0">
                <a:latin typeface="Times New Roman" panose="02020603050405020304" pitchFamily="18" charset="0"/>
                <a:cs typeface="Times New Roman" panose="02020603050405020304" pitchFamily="18" charset="0"/>
              </a:rPr>
              <a:t>This project simulates a university network where different departments are connected through routers. RIP and OSPF are implemented separately to </a:t>
            </a:r>
            <a:r>
              <a:rPr lang="en-IN" sz="8800" dirty="0" err="1">
                <a:latin typeface="Times New Roman" panose="02020603050405020304" pitchFamily="18" charset="0"/>
                <a:cs typeface="Times New Roman" panose="02020603050405020304" pitchFamily="18" charset="0"/>
              </a:rPr>
              <a:t>analyze</a:t>
            </a:r>
            <a:r>
              <a:rPr lang="en-IN" sz="8800" dirty="0">
                <a:latin typeface="Times New Roman" panose="02020603050405020304" pitchFamily="18" charset="0"/>
                <a:cs typeface="Times New Roman" panose="02020603050405020304" pitchFamily="18" charset="0"/>
              </a:rPr>
              <a:t> routing behaviour, compare performance, and evaluate their suitability for inter-department communication.</a:t>
            </a:r>
          </a:p>
          <a:p>
            <a:endParaRPr lang="en-US" dirty="0"/>
          </a:p>
        </p:txBody>
      </p:sp>
      <p:pic>
        <p:nvPicPr>
          <p:cNvPr id="6" name="Picture 5">
            <a:extLst>
              <a:ext uri="{FF2B5EF4-FFF2-40B4-BE49-F238E27FC236}">
                <a16:creationId xmlns:a16="http://schemas.microsoft.com/office/drawing/2014/main" id="{88A6ED74-A43A-B87E-7A47-114FFEB1160E}"/>
              </a:ext>
            </a:extLst>
          </p:cNvPr>
          <p:cNvPicPr>
            <a:picLocks noChangeAspect="1"/>
          </p:cNvPicPr>
          <p:nvPr/>
        </p:nvPicPr>
        <p:blipFill>
          <a:blip r:embed="rId2"/>
          <a:stretch>
            <a:fillRect/>
          </a:stretch>
        </p:blipFill>
        <p:spPr>
          <a:xfrm>
            <a:off x="11301985" y="0"/>
            <a:ext cx="890016" cy="890016"/>
          </a:xfrm>
          <a:prstGeom prst="rect">
            <a:avLst/>
          </a:prstGeom>
        </p:spPr>
      </p:pic>
    </p:spTree>
    <p:extLst>
      <p:ext uri="{BB962C8B-B14F-4D97-AF65-F5344CB8AC3E}">
        <p14:creationId xmlns:p14="http://schemas.microsoft.com/office/powerpoint/2010/main" val="17310502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B3EB0-56B4-AAAB-3EF2-6552B08D6E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5DF84D-692D-C534-DE1C-A557AB266B84}"/>
              </a:ext>
            </a:extLst>
          </p:cNvPr>
          <p:cNvSpPr>
            <a:spLocks noGrp="1"/>
          </p:cNvSpPr>
          <p:nvPr>
            <p:ph type="ctrTitle"/>
          </p:nvPr>
        </p:nvSpPr>
        <p:spPr>
          <a:xfrm>
            <a:off x="633984" y="613347"/>
            <a:ext cx="9765792" cy="730821"/>
          </a:xfrm>
        </p:spPr>
        <p:txBody>
          <a:bodyPr>
            <a:noAutofit/>
          </a:bodyPr>
          <a:lstStyle/>
          <a:p>
            <a:pPr algn="l"/>
            <a:r>
              <a:rPr lang="en-IN" dirty="0">
                <a:solidFill>
                  <a:srgbClr val="002060"/>
                </a:solidFill>
                <a:latin typeface="Times New Roman" panose="02020603050405020304" pitchFamily="18" charset="0"/>
                <a:cs typeface="Times New Roman" panose="02020603050405020304" pitchFamily="18" charset="0"/>
              </a:rPr>
              <a:t>Diagram Overview (RIP)</a:t>
            </a:r>
            <a:endParaRPr lang="en-US" dirty="0">
              <a:solidFill>
                <a:srgbClr val="00206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6A6A2509-0C67-D8AA-3880-3062C196BB86}"/>
              </a:ext>
            </a:extLst>
          </p:cNvPr>
          <p:cNvSpPr>
            <a:spLocks noGrp="1"/>
          </p:cNvSpPr>
          <p:nvPr>
            <p:ph type="subTitle" idx="1"/>
          </p:nvPr>
        </p:nvSpPr>
        <p:spPr>
          <a:xfrm>
            <a:off x="633984" y="1472184"/>
            <a:ext cx="5462016" cy="3279648"/>
          </a:xfrm>
        </p:spPr>
        <p:txBody>
          <a:bodyPr numCol="1">
            <a:noAutofit/>
          </a:bodyPr>
          <a:lstStyle/>
          <a:p>
            <a:pPr algn="l">
              <a:lnSpc>
                <a:spcPct val="80000"/>
              </a:lnSpc>
            </a:pPr>
            <a:r>
              <a:rPr lang="en-IN" b="1" dirty="0">
                <a:latin typeface="Times New Roman" panose="02020603050405020304" pitchFamily="18" charset="0"/>
                <a:cs typeface="Times New Roman" panose="02020603050405020304" pitchFamily="18" charset="0"/>
              </a:rPr>
              <a:t>RIP Network Topology: </a:t>
            </a:r>
            <a:r>
              <a:rPr lang="en-IN" sz="2200" dirty="0">
                <a:latin typeface="Times New Roman" panose="02020603050405020304" pitchFamily="18" charset="0"/>
                <a:cs typeface="Times New Roman" panose="02020603050405020304" pitchFamily="18" charset="0"/>
              </a:rPr>
              <a:t>Three routers connect three departmental LANs.</a:t>
            </a:r>
          </a:p>
          <a:p>
            <a:pPr lvl="0" algn="l">
              <a:lnSpc>
                <a:spcPct val="70000"/>
              </a:lnSpc>
            </a:pPr>
            <a:r>
              <a:rPr lang="en-IN" dirty="0">
                <a:latin typeface="Times New Roman" panose="02020603050405020304" pitchFamily="18" charset="0"/>
                <a:cs typeface="Times New Roman" panose="02020603050405020304" pitchFamily="18" charset="0"/>
              </a:rPr>
              <a:t>LAN Networks:                  </a:t>
            </a:r>
          </a:p>
          <a:p>
            <a:pPr lvl="1" algn="l">
              <a:lnSpc>
                <a:spcPct val="70000"/>
              </a:lnSpc>
            </a:pPr>
            <a:r>
              <a:rPr lang="en-IN" sz="2200" b="1" dirty="0">
                <a:latin typeface="Times New Roman" panose="02020603050405020304" pitchFamily="18" charset="0"/>
                <a:cs typeface="Times New Roman" panose="02020603050405020304" pitchFamily="18" charset="0"/>
              </a:rPr>
              <a:t>192.168.10.0</a:t>
            </a:r>
            <a:endParaRPr lang="en-IN" sz="2200" dirty="0">
              <a:latin typeface="Times New Roman" panose="02020603050405020304" pitchFamily="18" charset="0"/>
              <a:cs typeface="Times New Roman" panose="02020603050405020304" pitchFamily="18" charset="0"/>
            </a:endParaRPr>
          </a:p>
          <a:p>
            <a:pPr lvl="1" algn="l">
              <a:lnSpc>
                <a:spcPct val="70000"/>
              </a:lnSpc>
            </a:pPr>
            <a:r>
              <a:rPr lang="en-IN" sz="2200" b="1" dirty="0">
                <a:latin typeface="Times New Roman" panose="02020603050405020304" pitchFamily="18" charset="0"/>
                <a:cs typeface="Times New Roman" panose="02020603050405020304" pitchFamily="18" charset="0"/>
              </a:rPr>
              <a:t>192.168.20.0</a:t>
            </a:r>
            <a:endParaRPr lang="en-IN" sz="2200" dirty="0">
              <a:latin typeface="Times New Roman" panose="02020603050405020304" pitchFamily="18" charset="0"/>
              <a:cs typeface="Times New Roman" panose="02020603050405020304" pitchFamily="18" charset="0"/>
            </a:endParaRPr>
          </a:p>
          <a:p>
            <a:pPr lvl="1" algn="l">
              <a:lnSpc>
                <a:spcPct val="70000"/>
              </a:lnSpc>
            </a:pPr>
            <a:r>
              <a:rPr lang="en-IN" sz="2200" b="1" dirty="0">
                <a:latin typeface="Times New Roman" panose="02020603050405020304" pitchFamily="18" charset="0"/>
                <a:cs typeface="Times New Roman" panose="02020603050405020304" pitchFamily="18" charset="0"/>
              </a:rPr>
              <a:t>192.168.30.0</a:t>
            </a:r>
          </a:p>
          <a:p>
            <a:pPr algn="l"/>
            <a:r>
              <a:rPr lang="en-IN" dirty="0">
                <a:latin typeface="Times New Roman" panose="02020603050405020304" pitchFamily="18" charset="0"/>
                <a:cs typeface="Times New Roman" panose="02020603050405020304" pitchFamily="18" charset="0"/>
              </a:rPr>
              <a:t>Router Links:</a:t>
            </a:r>
          </a:p>
          <a:p>
            <a:pPr lvl="1" algn="l">
              <a:lnSpc>
                <a:spcPct val="80000"/>
              </a:lnSpc>
              <a:spcBef>
                <a:spcPts val="0"/>
              </a:spcBef>
            </a:pPr>
            <a:r>
              <a:rPr lang="en-IN" sz="2200" b="1" dirty="0">
                <a:latin typeface="Times New Roman" panose="02020603050405020304" pitchFamily="18" charset="0"/>
                <a:cs typeface="Times New Roman" panose="02020603050405020304" pitchFamily="18" charset="0"/>
              </a:rPr>
              <a:t>10.10.10.0</a:t>
            </a:r>
            <a:endParaRPr lang="en-IN" sz="2200" dirty="0">
              <a:latin typeface="Times New Roman" panose="02020603050405020304" pitchFamily="18" charset="0"/>
              <a:cs typeface="Times New Roman" panose="02020603050405020304" pitchFamily="18" charset="0"/>
            </a:endParaRPr>
          </a:p>
          <a:p>
            <a:pPr lvl="1" algn="l">
              <a:lnSpc>
                <a:spcPct val="80000"/>
              </a:lnSpc>
              <a:spcBef>
                <a:spcPts val="0"/>
              </a:spcBef>
            </a:pPr>
            <a:r>
              <a:rPr lang="en-IN" sz="2200" b="1" dirty="0">
                <a:latin typeface="Times New Roman" panose="02020603050405020304" pitchFamily="18" charset="0"/>
                <a:cs typeface="Times New Roman" panose="02020603050405020304" pitchFamily="18" charset="0"/>
              </a:rPr>
              <a:t>20.20.20.0</a:t>
            </a:r>
            <a:endParaRPr lang="en-IN" sz="2200" dirty="0">
              <a:latin typeface="Times New Roman" panose="02020603050405020304" pitchFamily="18" charset="0"/>
              <a:cs typeface="Times New Roman" panose="02020603050405020304" pitchFamily="18" charset="0"/>
            </a:endParaRPr>
          </a:p>
          <a:p>
            <a:pPr lvl="1" algn="l">
              <a:lnSpc>
                <a:spcPct val="80000"/>
              </a:lnSpc>
              <a:spcBef>
                <a:spcPts val="0"/>
              </a:spcBef>
            </a:pPr>
            <a:r>
              <a:rPr lang="en-IN" sz="2200" b="1" dirty="0">
                <a:latin typeface="Times New Roman" panose="02020603050405020304" pitchFamily="18" charset="0"/>
                <a:cs typeface="Times New Roman" panose="02020603050405020304" pitchFamily="18" charset="0"/>
              </a:rPr>
              <a:t>30.30.30.0</a:t>
            </a:r>
            <a:endParaRPr lang="en-IN" sz="2200" dirty="0">
              <a:latin typeface="Times New Roman" panose="02020603050405020304" pitchFamily="18" charset="0"/>
              <a:cs typeface="Times New Roman" panose="02020603050405020304" pitchFamily="18" charset="0"/>
            </a:endParaRPr>
          </a:p>
          <a:p>
            <a:pPr>
              <a:lnSpc>
                <a:spcPct val="70000"/>
              </a:lnSpc>
            </a:pPr>
            <a:endParaRPr lang="en-US" sz="22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0CAB3D1B-F272-5D22-A529-0EF5E5D74DB3}"/>
              </a:ext>
            </a:extLst>
          </p:cNvPr>
          <p:cNvPicPr>
            <a:picLocks noChangeAspect="1"/>
          </p:cNvPicPr>
          <p:nvPr/>
        </p:nvPicPr>
        <p:blipFill>
          <a:blip r:embed="rId2"/>
          <a:stretch>
            <a:fillRect/>
          </a:stretch>
        </p:blipFill>
        <p:spPr>
          <a:xfrm>
            <a:off x="11301985" y="0"/>
            <a:ext cx="890016" cy="890016"/>
          </a:xfrm>
          <a:prstGeom prst="rect">
            <a:avLst/>
          </a:prstGeom>
        </p:spPr>
      </p:pic>
      <p:sp>
        <p:nvSpPr>
          <p:cNvPr id="5" name="TextBox 4">
            <a:extLst>
              <a:ext uri="{FF2B5EF4-FFF2-40B4-BE49-F238E27FC236}">
                <a16:creationId xmlns:a16="http://schemas.microsoft.com/office/drawing/2014/main" id="{928ADBBD-60C5-57D6-F2EB-10C213D561F0}"/>
              </a:ext>
            </a:extLst>
          </p:cNvPr>
          <p:cNvSpPr txBox="1"/>
          <p:nvPr/>
        </p:nvSpPr>
        <p:spPr>
          <a:xfrm>
            <a:off x="490228" y="4751832"/>
            <a:ext cx="10275307" cy="2888483"/>
          </a:xfrm>
          <a:prstGeom prst="rect">
            <a:avLst/>
          </a:prstGeom>
          <a:noFill/>
        </p:spPr>
        <p:txBody>
          <a:bodyPr wrap="square" numCol="2" rtlCol="0">
            <a:spAutoFit/>
          </a:bodyPr>
          <a:lstStyle/>
          <a:p>
            <a:pPr>
              <a:lnSpc>
                <a:spcPct val="85000"/>
              </a:lnSpc>
              <a:spcAft>
                <a:spcPts val="600"/>
              </a:spcAft>
            </a:pPr>
            <a:r>
              <a:rPr lang="en-IN" sz="2400" b="1" dirty="0">
                <a:latin typeface="Times New Roman" panose="02020603050405020304" pitchFamily="18" charset="0"/>
                <a:cs typeface="Times New Roman" panose="02020603050405020304" pitchFamily="18" charset="0"/>
              </a:rPr>
              <a:t>RIP Features:</a:t>
            </a:r>
          </a:p>
          <a:p>
            <a:pPr marL="342900" lvl="0" indent="-342900">
              <a:lnSpc>
                <a:spcPct val="85000"/>
              </a:lnSpc>
              <a:buFont typeface="Wingdings" pitchFamily="2" charset="2"/>
              <a:buChar char="Ø"/>
            </a:pPr>
            <a:r>
              <a:rPr lang="en-IN" sz="2200" dirty="0">
                <a:latin typeface="Times New Roman" panose="02020603050405020304" pitchFamily="18" charset="0"/>
                <a:cs typeface="Times New Roman" panose="02020603050405020304" pitchFamily="18" charset="0"/>
              </a:rPr>
              <a:t>Distance Vector Routing Protocol</a:t>
            </a:r>
          </a:p>
          <a:p>
            <a:pPr marL="342900" lvl="0" indent="-342900">
              <a:lnSpc>
                <a:spcPct val="85000"/>
              </a:lnSpc>
              <a:buFont typeface="Wingdings" pitchFamily="2" charset="2"/>
              <a:buChar char="Ø"/>
            </a:pPr>
            <a:r>
              <a:rPr lang="en-IN" sz="2200" dirty="0">
                <a:latin typeface="Times New Roman" panose="02020603050405020304" pitchFamily="18" charset="0"/>
                <a:cs typeface="Times New Roman" panose="02020603050405020304" pitchFamily="18" charset="0"/>
              </a:rPr>
              <a:t>Uses Hop Count metric</a:t>
            </a:r>
          </a:p>
          <a:p>
            <a:pPr marL="342900" lvl="0" indent="-342900">
              <a:lnSpc>
                <a:spcPct val="85000"/>
              </a:lnSpc>
              <a:buFont typeface="Wingdings" pitchFamily="2" charset="2"/>
              <a:buChar char="Ø"/>
            </a:pPr>
            <a:r>
              <a:rPr lang="en-IN" sz="2200" dirty="0">
                <a:latin typeface="Times New Roman" panose="02020603050405020304" pitchFamily="18" charset="0"/>
                <a:cs typeface="Times New Roman" panose="02020603050405020304" pitchFamily="18" charset="0"/>
              </a:rPr>
              <a:t>Periodic route updates</a:t>
            </a:r>
          </a:p>
          <a:p>
            <a:pPr marL="342900" lvl="0" indent="-342900">
              <a:lnSpc>
                <a:spcPct val="85000"/>
              </a:lnSpc>
              <a:buFont typeface="Wingdings" pitchFamily="2" charset="2"/>
              <a:buChar char="Ø"/>
            </a:pPr>
            <a:endParaRPr lang="en-IN" sz="2200" dirty="0">
              <a:latin typeface="Times New Roman" panose="02020603050405020304" pitchFamily="18" charset="0"/>
              <a:cs typeface="Times New Roman" panose="02020603050405020304" pitchFamily="18" charset="0"/>
            </a:endParaRPr>
          </a:p>
          <a:p>
            <a:pPr marL="342900" lvl="0" indent="-342900">
              <a:lnSpc>
                <a:spcPct val="85000"/>
              </a:lnSpc>
              <a:buFont typeface="Wingdings" pitchFamily="2" charset="2"/>
              <a:buChar char="Ø"/>
            </a:pPr>
            <a:endParaRPr lang="en-IN" sz="2200" dirty="0">
              <a:latin typeface="Times New Roman" panose="02020603050405020304" pitchFamily="18" charset="0"/>
              <a:cs typeface="Times New Roman" panose="02020603050405020304" pitchFamily="18" charset="0"/>
            </a:endParaRPr>
          </a:p>
          <a:p>
            <a:pPr marL="342900" lvl="0" indent="-342900">
              <a:lnSpc>
                <a:spcPct val="85000"/>
              </a:lnSpc>
              <a:buFont typeface="Wingdings" pitchFamily="2" charset="2"/>
              <a:buChar char="Ø"/>
            </a:pPr>
            <a:endParaRPr lang="en-IN" sz="2200" dirty="0">
              <a:latin typeface="Times New Roman" panose="02020603050405020304" pitchFamily="18" charset="0"/>
              <a:cs typeface="Times New Roman" panose="02020603050405020304" pitchFamily="18" charset="0"/>
            </a:endParaRPr>
          </a:p>
          <a:p>
            <a:pPr lvl="0">
              <a:lnSpc>
                <a:spcPct val="85000"/>
              </a:lnSpc>
            </a:pPr>
            <a:endParaRPr lang="en-IN" sz="2200" dirty="0">
              <a:latin typeface="Times New Roman" panose="02020603050405020304" pitchFamily="18" charset="0"/>
              <a:cs typeface="Times New Roman" panose="02020603050405020304" pitchFamily="18" charset="0"/>
            </a:endParaRPr>
          </a:p>
          <a:p>
            <a:pPr lvl="0">
              <a:lnSpc>
                <a:spcPct val="85000"/>
              </a:lnSpc>
            </a:pPr>
            <a:endParaRPr lang="en-IN" sz="2200" dirty="0">
              <a:latin typeface="Times New Roman" panose="02020603050405020304" pitchFamily="18" charset="0"/>
              <a:cs typeface="Times New Roman" panose="02020603050405020304" pitchFamily="18" charset="0"/>
            </a:endParaRPr>
          </a:p>
          <a:p>
            <a:pPr>
              <a:lnSpc>
                <a:spcPct val="85000"/>
              </a:lnSpc>
              <a:spcAft>
                <a:spcPts val="600"/>
              </a:spcAft>
            </a:pPr>
            <a:r>
              <a:rPr lang="en-IN" sz="2400" b="1" dirty="0">
                <a:latin typeface="Times New Roman" panose="02020603050405020304" pitchFamily="18" charset="0"/>
                <a:cs typeface="Times New Roman" panose="02020603050405020304" pitchFamily="18" charset="0"/>
              </a:rPr>
              <a:t>Working:</a:t>
            </a:r>
          </a:p>
          <a:p>
            <a:pPr marL="342900" lvl="0" indent="-342900">
              <a:lnSpc>
                <a:spcPct val="85000"/>
              </a:lnSpc>
              <a:buFont typeface="Wingdings" pitchFamily="2" charset="2"/>
              <a:buChar char="Ø"/>
            </a:pPr>
            <a:r>
              <a:rPr lang="en-IN" sz="2200" dirty="0">
                <a:latin typeface="Times New Roman" panose="02020603050405020304" pitchFamily="18" charset="0"/>
                <a:cs typeface="Times New Roman" panose="02020603050405020304" pitchFamily="18" charset="0"/>
              </a:rPr>
              <a:t>Routers exchange routing information.</a:t>
            </a:r>
          </a:p>
          <a:p>
            <a:pPr marL="342900" lvl="0" indent="-342900">
              <a:lnSpc>
                <a:spcPct val="85000"/>
              </a:lnSpc>
              <a:buFont typeface="Wingdings" pitchFamily="2" charset="2"/>
              <a:buChar char="Ø"/>
            </a:pPr>
            <a:r>
              <a:rPr lang="en-IN" sz="2200" dirty="0">
                <a:latin typeface="Times New Roman" panose="02020603050405020304" pitchFamily="18" charset="0"/>
                <a:cs typeface="Times New Roman" panose="02020603050405020304" pitchFamily="18" charset="0"/>
              </a:rPr>
              <a:t>Routes are learned automatically.</a:t>
            </a:r>
          </a:p>
          <a:p>
            <a:pPr marL="342900" lvl="0" indent="-342900">
              <a:lnSpc>
                <a:spcPct val="85000"/>
              </a:lnSpc>
              <a:buFont typeface="Wingdings" pitchFamily="2" charset="2"/>
              <a:buChar char="Ø"/>
            </a:pPr>
            <a:r>
              <a:rPr lang="en-IN" sz="2200" dirty="0">
                <a:latin typeface="Times New Roman" panose="02020603050405020304" pitchFamily="18" charset="0"/>
                <a:cs typeface="Times New Roman" panose="02020603050405020304" pitchFamily="18" charset="0"/>
              </a:rPr>
              <a:t>Enables communication between all departments.</a:t>
            </a:r>
          </a:p>
        </p:txBody>
      </p:sp>
      <p:pic>
        <p:nvPicPr>
          <p:cNvPr id="8" name="Picture 7">
            <a:extLst>
              <a:ext uri="{FF2B5EF4-FFF2-40B4-BE49-F238E27FC236}">
                <a16:creationId xmlns:a16="http://schemas.microsoft.com/office/drawing/2014/main" id="{44B6856E-8B75-64D7-2283-72D2CE489B00}"/>
              </a:ext>
            </a:extLst>
          </p:cNvPr>
          <p:cNvPicPr>
            <a:picLocks noChangeAspect="1"/>
          </p:cNvPicPr>
          <p:nvPr/>
        </p:nvPicPr>
        <p:blipFill>
          <a:blip r:embed="rId3"/>
          <a:srcRect l="418" t="20142" r="31245" b="20887"/>
          <a:stretch>
            <a:fillRect/>
          </a:stretch>
        </p:blipFill>
        <p:spPr>
          <a:xfrm>
            <a:off x="5754609" y="1344168"/>
            <a:ext cx="5992384" cy="2916000"/>
          </a:xfrm>
          <a:prstGeom prst="rect">
            <a:avLst/>
          </a:prstGeom>
        </p:spPr>
      </p:pic>
      <p:sp>
        <p:nvSpPr>
          <p:cNvPr id="9" name="TextBox 8">
            <a:extLst>
              <a:ext uri="{FF2B5EF4-FFF2-40B4-BE49-F238E27FC236}">
                <a16:creationId xmlns:a16="http://schemas.microsoft.com/office/drawing/2014/main" id="{FEFDDBBE-8186-E90F-7CB5-292D64C2EB53}"/>
              </a:ext>
            </a:extLst>
          </p:cNvPr>
          <p:cNvSpPr txBox="1"/>
          <p:nvPr/>
        </p:nvSpPr>
        <p:spPr>
          <a:xfrm>
            <a:off x="6367272" y="4254484"/>
            <a:ext cx="5108448"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Figure 1: </a:t>
            </a:r>
            <a:r>
              <a:rPr lang="en-IN" dirty="0">
                <a:latin typeface="Times New Roman" panose="02020603050405020304" pitchFamily="18" charset="0"/>
                <a:cs typeface="Times New Roman" panose="02020603050405020304" pitchFamily="18" charset="0"/>
              </a:rPr>
              <a:t>University Network Topology using RIP</a:t>
            </a:r>
          </a:p>
        </p:txBody>
      </p:sp>
    </p:spTree>
    <p:extLst>
      <p:ext uri="{BB962C8B-B14F-4D97-AF65-F5344CB8AC3E}">
        <p14:creationId xmlns:p14="http://schemas.microsoft.com/office/powerpoint/2010/main" val="9841679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27AE7-D7F5-0DBF-DBB2-CB01D0FCB5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D91ADB-5248-3E60-427A-03738D8D2331}"/>
              </a:ext>
            </a:extLst>
          </p:cNvPr>
          <p:cNvSpPr>
            <a:spLocks noGrp="1"/>
          </p:cNvSpPr>
          <p:nvPr>
            <p:ph type="ctrTitle"/>
          </p:nvPr>
        </p:nvSpPr>
        <p:spPr>
          <a:xfrm>
            <a:off x="620889" y="440806"/>
            <a:ext cx="10047111" cy="1072197"/>
          </a:xfrm>
        </p:spPr>
        <p:txBody>
          <a:bodyPr>
            <a:normAutofit/>
          </a:bodyPr>
          <a:lstStyle/>
          <a:p>
            <a:pPr algn="l"/>
            <a:r>
              <a:rPr lang="en-IN" dirty="0">
                <a:solidFill>
                  <a:srgbClr val="002060"/>
                </a:solidFill>
                <a:latin typeface="Times New Roman" panose="02020603050405020304" pitchFamily="18" charset="0"/>
                <a:cs typeface="Times New Roman" panose="02020603050405020304" pitchFamily="18" charset="0"/>
              </a:rPr>
              <a:t>Demonstration &amp; CLI (RIP)</a:t>
            </a:r>
            <a:endParaRPr lang="en-US" dirty="0">
              <a:solidFill>
                <a:srgbClr val="00206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9A74A0F8-B6B9-8707-503E-2037FD91257E}"/>
              </a:ext>
            </a:extLst>
          </p:cNvPr>
          <p:cNvSpPr>
            <a:spLocks noGrp="1"/>
          </p:cNvSpPr>
          <p:nvPr>
            <p:ph type="subTitle" idx="1"/>
          </p:nvPr>
        </p:nvSpPr>
        <p:spPr>
          <a:xfrm>
            <a:off x="707136" y="1706880"/>
            <a:ext cx="6412992" cy="4623117"/>
          </a:xfrm>
        </p:spPr>
        <p:txBody>
          <a:bodyPr>
            <a:normAutofit/>
          </a:bodyPr>
          <a:lstStyle/>
          <a:p>
            <a:pPr algn="l"/>
            <a:r>
              <a:rPr lang="en-IN" b="1" dirty="0">
                <a:latin typeface="Times New Roman" panose="02020603050405020304" pitchFamily="18" charset="0"/>
                <a:cs typeface="Times New Roman" panose="02020603050405020304" pitchFamily="18" charset="0"/>
              </a:rPr>
              <a:t>RIP Configuration:</a:t>
            </a:r>
          </a:p>
          <a:p>
            <a:pPr marL="342900" lvl="0" indent="-342900" algn="l">
              <a:lnSpc>
                <a:spcPct val="70000"/>
              </a:lnSpc>
              <a:buFont typeface="Wingdings" pitchFamily="2" charset="2"/>
              <a:buChar char="Ø"/>
            </a:pPr>
            <a:r>
              <a:rPr lang="en-IN" sz="2200" dirty="0">
                <a:latin typeface="Times New Roman" panose="02020603050405020304" pitchFamily="18" charset="0"/>
                <a:cs typeface="Times New Roman" panose="02020603050405020304" pitchFamily="18" charset="0"/>
              </a:rPr>
              <a:t>RIP configured on all routers.</a:t>
            </a:r>
          </a:p>
          <a:p>
            <a:pPr marL="342900" lvl="0" indent="-342900" algn="l">
              <a:lnSpc>
                <a:spcPct val="70000"/>
              </a:lnSpc>
              <a:buFont typeface="Wingdings" pitchFamily="2" charset="2"/>
              <a:buChar char="Ø"/>
            </a:pPr>
            <a:r>
              <a:rPr lang="en-IN" sz="2200" dirty="0">
                <a:latin typeface="Times New Roman" panose="02020603050405020304" pitchFamily="18" charset="0"/>
                <a:cs typeface="Times New Roman" panose="02020603050405020304" pitchFamily="18" charset="0"/>
              </a:rPr>
              <a:t>Network addresses advertised successfully.</a:t>
            </a:r>
          </a:p>
          <a:p>
            <a:pPr marL="342900" lvl="0" indent="-342900" algn="l">
              <a:lnSpc>
                <a:spcPct val="70000"/>
              </a:lnSpc>
              <a:buFont typeface="Wingdings" pitchFamily="2" charset="2"/>
              <a:buChar char="Ø"/>
            </a:pPr>
            <a:r>
              <a:rPr lang="en-IN" sz="2200" dirty="0">
                <a:latin typeface="Times New Roman" panose="02020603050405020304" pitchFamily="18" charset="0"/>
                <a:cs typeface="Times New Roman" panose="02020603050405020304" pitchFamily="18" charset="0"/>
              </a:rPr>
              <a:t>Routing information shared automatically.</a:t>
            </a:r>
          </a:p>
          <a:p>
            <a:pPr algn="l"/>
            <a:r>
              <a:rPr lang="en-IN" b="1" dirty="0">
                <a:latin typeface="Times New Roman" panose="02020603050405020304" pitchFamily="18" charset="0"/>
                <a:cs typeface="Times New Roman" panose="02020603050405020304" pitchFamily="18" charset="0"/>
              </a:rPr>
              <a:t>Demonstration:</a:t>
            </a:r>
          </a:p>
          <a:p>
            <a:pPr marL="342900" lvl="0" indent="-342900" algn="l">
              <a:lnSpc>
                <a:spcPct val="70000"/>
              </a:lnSpc>
              <a:buFont typeface="Wingdings" pitchFamily="2" charset="2"/>
              <a:buChar char="Ø"/>
            </a:pPr>
            <a:r>
              <a:rPr lang="en-IN" sz="2200" dirty="0">
                <a:latin typeface="Times New Roman" panose="02020603050405020304" pitchFamily="18" charset="0"/>
                <a:cs typeface="Times New Roman" panose="02020603050405020304" pitchFamily="18" charset="0"/>
              </a:rPr>
              <a:t>Routing tables updated dynamically.</a:t>
            </a:r>
          </a:p>
          <a:p>
            <a:pPr marL="342900" lvl="0" indent="-342900" algn="l">
              <a:lnSpc>
                <a:spcPct val="70000"/>
              </a:lnSpc>
              <a:buFont typeface="Wingdings" pitchFamily="2" charset="2"/>
              <a:buChar char="Ø"/>
            </a:pPr>
            <a:r>
              <a:rPr lang="en-IN" sz="2200" dirty="0">
                <a:latin typeface="Times New Roman" panose="02020603050405020304" pitchFamily="18" charset="0"/>
                <a:cs typeface="Times New Roman" panose="02020603050405020304" pitchFamily="18" charset="0"/>
              </a:rPr>
              <a:t>Connectivity verified between departmental networks.</a:t>
            </a:r>
          </a:p>
          <a:p>
            <a:pPr marL="342900" lvl="0" indent="-342900" algn="l">
              <a:lnSpc>
                <a:spcPct val="70000"/>
              </a:lnSpc>
              <a:buFont typeface="Wingdings" pitchFamily="2" charset="2"/>
              <a:buChar char="Ø"/>
            </a:pPr>
            <a:r>
              <a:rPr lang="en-IN" sz="2200" dirty="0">
                <a:latin typeface="Times New Roman" panose="02020603050405020304" pitchFamily="18" charset="0"/>
                <a:cs typeface="Times New Roman" panose="02020603050405020304" pitchFamily="18" charset="0"/>
              </a:rPr>
              <a:t>Successful packet delivery achieved.</a:t>
            </a:r>
          </a:p>
          <a:p>
            <a:pPr algn="l"/>
            <a:r>
              <a:rPr lang="en-IN" b="1" dirty="0">
                <a:latin typeface="Times New Roman" panose="02020603050405020304" pitchFamily="18" charset="0"/>
                <a:cs typeface="Times New Roman" panose="02020603050405020304" pitchFamily="18" charset="0"/>
              </a:rPr>
              <a:t>Observation: </a:t>
            </a:r>
            <a:r>
              <a:rPr lang="en-IN" sz="2200" dirty="0">
                <a:latin typeface="Times New Roman" panose="02020603050405020304" pitchFamily="18" charset="0"/>
                <a:cs typeface="Times New Roman" panose="02020603050405020304" pitchFamily="18" charset="0"/>
              </a:rPr>
              <a:t>RIP enabled communication between all departments through dynamic route exchange.</a:t>
            </a:r>
          </a:p>
          <a:p>
            <a:endParaRPr lang="en-US" dirty="0"/>
          </a:p>
        </p:txBody>
      </p:sp>
      <p:pic>
        <p:nvPicPr>
          <p:cNvPr id="6" name="Picture 5">
            <a:extLst>
              <a:ext uri="{FF2B5EF4-FFF2-40B4-BE49-F238E27FC236}">
                <a16:creationId xmlns:a16="http://schemas.microsoft.com/office/drawing/2014/main" id="{A3A95BCC-F470-B0CC-9C46-624AE2D14620}"/>
              </a:ext>
            </a:extLst>
          </p:cNvPr>
          <p:cNvPicPr>
            <a:picLocks noChangeAspect="1"/>
          </p:cNvPicPr>
          <p:nvPr/>
        </p:nvPicPr>
        <p:blipFill>
          <a:blip r:embed="rId2"/>
          <a:stretch>
            <a:fillRect/>
          </a:stretch>
        </p:blipFill>
        <p:spPr>
          <a:xfrm>
            <a:off x="11301985" y="0"/>
            <a:ext cx="890016" cy="890016"/>
          </a:xfrm>
          <a:prstGeom prst="rect">
            <a:avLst/>
          </a:prstGeom>
        </p:spPr>
      </p:pic>
      <p:pic>
        <p:nvPicPr>
          <p:cNvPr id="4" name="Picture 3">
            <a:extLst>
              <a:ext uri="{FF2B5EF4-FFF2-40B4-BE49-F238E27FC236}">
                <a16:creationId xmlns:a16="http://schemas.microsoft.com/office/drawing/2014/main" id="{5EFC18AE-7BFD-3079-A0B3-141DB71F299D}"/>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45000"/>
                    </a14:imgEffect>
                    <a14:imgEffect>
                      <a14:saturation sat="150000"/>
                    </a14:imgEffect>
                  </a14:imgLayer>
                </a14:imgProps>
              </a:ext>
            </a:extLst>
          </a:blip>
          <a:srcRect l="900" r="-100"/>
          <a:stretch>
            <a:fillRect/>
          </a:stretch>
        </p:blipFill>
        <p:spPr>
          <a:xfrm>
            <a:off x="7010400" y="1577629"/>
            <a:ext cx="4977600" cy="4188537"/>
          </a:xfrm>
          <a:prstGeom prst="rect">
            <a:avLst/>
          </a:prstGeom>
        </p:spPr>
      </p:pic>
      <p:sp>
        <p:nvSpPr>
          <p:cNvPr id="7" name="TextBox 6">
            <a:extLst>
              <a:ext uri="{FF2B5EF4-FFF2-40B4-BE49-F238E27FC236}">
                <a16:creationId xmlns:a16="http://schemas.microsoft.com/office/drawing/2014/main" id="{77D05712-55CB-47FD-40D5-6D1889569BF4}"/>
              </a:ext>
            </a:extLst>
          </p:cNvPr>
          <p:cNvSpPr txBox="1"/>
          <p:nvPr/>
        </p:nvSpPr>
        <p:spPr>
          <a:xfrm>
            <a:off x="7120128" y="5766166"/>
            <a:ext cx="4780080" cy="646331"/>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Figure 2:</a:t>
            </a:r>
            <a:r>
              <a:rPr lang="en-IN" dirty="0">
                <a:latin typeface="Times New Roman" panose="02020603050405020304" pitchFamily="18" charset="0"/>
                <a:cs typeface="Times New Roman" panose="02020603050405020304" pitchFamily="18" charset="0"/>
              </a:rPr>
              <a:t> RIP Configuration and Verification using Cisco IOS CLI</a:t>
            </a:r>
          </a:p>
        </p:txBody>
      </p:sp>
    </p:spTree>
    <p:extLst>
      <p:ext uri="{BB962C8B-B14F-4D97-AF65-F5344CB8AC3E}">
        <p14:creationId xmlns:p14="http://schemas.microsoft.com/office/powerpoint/2010/main" val="22867567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712AA-0535-8620-35EF-C0C290539D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BA8B9D-876B-3B73-522B-965B668EB7FD}"/>
              </a:ext>
            </a:extLst>
          </p:cNvPr>
          <p:cNvSpPr>
            <a:spLocks noGrp="1"/>
          </p:cNvSpPr>
          <p:nvPr>
            <p:ph type="ctrTitle"/>
          </p:nvPr>
        </p:nvSpPr>
        <p:spPr>
          <a:xfrm>
            <a:off x="682752" y="519684"/>
            <a:ext cx="9887712" cy="740664"/>
          </a:xfrm>
        </p:spPr>
        <p:txBody>
          <a:bodyPr>
            <a:noAutofit/>
          </a:bodyPr>
          <a:lstStyle/>
          <a:p>
            <a:pPr algn="l"/>
            <a:r>
              <a:rPr lang="en-IN" dirty="0">
                <a:solidFill>
                  <a:srgbClr val="002060"/>
                </a:solidFill>
                <a:latin typeface="Times New Roman" panose="02020603050405020304" pitchFamily="18" charset="0"/>
                <a:cs typeface="Times New Roman" panose="02020603050405020304" pitchFamily="18" charset="0"/>
              </a:rPr>
              <a:t>Diagram Overview (OSPF)</a:t>
            </a:r>
            <a:endParaRPr lang="en-US" dirty="0">
              <a:solidFill>
                <a:srgbClr val="00206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876FE881-87AC-132C-0E07-3359E0AFCC80}"/>
              </a:ext>
            </a:extLst>
          </p:cNvPr>
          <p:cNvSpPr>
            <a:spLocks noGrp="1"/>
          </p:cNvSpPr>
          <p:nvPr>
            <p:ph type="subTitle" idx="1"/>
          </p:nvPr>
        </p:nvSpPr>
        <p:spPr>
          <a:xfrm>
            <a:off x="682752" y="1260348"/>
            <a:ext cx="9985248" cy="4706112"/>
          </a:xfrm>
        </p:spPr>
        <p:txBody>
          <a:bodyPr>
            <a:noAutofit/>
          </a:bodyPr>
          <a:lstStyle/>
          <a:p>
            <a:pPr algn="l">
              <a:lnSpc>
                <a:spcPct val="70000"/>
              </a:lnSpc>
            </a:pPr>
            <a:r>
              <a:rPr lang="en-IN" b="1" dirty="0">
                <a:latin typeface="Times New Roman" panose="02020603050405020304" pitchFamily="18" charset="0"/>
                <a:cs typeface="Times New Roman" panose="02020603050405020304" pitchFamily="18" charset="0"/>
              </a:rPr>
              <a:t>OSPF Network Topology: </a:t>
            </a:r>
            <a:r>
              <a:rPr lang="en-IN" sz="2200" dirty="0">
                <a:latin typeface="Times New Roman" panose="02020603050405020304" pitchFamily="18" charset="0"/>
                <a:cs typeface="Times New Roman" panose="02020603050405020304" pitchFamily="18" charset="0"/>
              </a:rPr>
              <a:t>Three routers connect three departmental LANs.</a:t>
            </a:r>
          </a:p>
          <a:p>
            <a:pPr lvl="0" algn="l">
              <a:lnSpc>
                <a:spcPct val="70000"/>
              </a:lnSpc>
            </a:pPr>
            <a:r>
              <a:rPr lang="en-IN" dirty="0">
                <a:latin typeface="Times New Roman" panose="02020603050405020304" pitchFamily="18" charset="0"/>
                <a:cs typeface="Times New Roman" panose="02020603050405020304" pitchFamily="18" charset="0"/>
              </a:rPr>
              <a:t>LAN Networks:</a:t>
            </a:r>
          </a:p>
          <a:p>
            <a:pPr lvl="1" algn="l">
              <a:lnSpc>
                <a:spcPct val="70000"/>
              </a:lnSpc>
            </a:pPr>
            <a:r>
              <a:rPr lang="en-IN" sz="2200" dirty="0">
                <a:latin typeface="Times New Roman" panose="02020603050405020304" pitchFamily="18" charset="0"/>
                <a:cs typeface="Times New Roman" panose="02020603050405020304" pitchFamily="18" charset="0"/>
              </a:rPr>
              <a:t>192.168.10.0</a:t>
            </a:r>
          </a:p>
          <a:p>
            <a:pPr lvl="1" algn="l">
              <a:lnSpc>
                <a:spcPct val="70000"/>
              </a:lnSpc>
            </a:pPr>
            <a:r>
              <a:rPr lang="en-IN" sz="2200" dirty="0">
                <a:latin typeface="Times New Roman" panose="02020603050405020304" pitchFamily="18" charset="0"/>
                <a:cs typeface="Times New Roman" panose="02020603050405020304" pitchFamily="18" charset="0"/>
              </a:rPr>
              <a:t>192.168.20.0</a:t>
            </a:r>
          </a:p>
          <a:p>
            <a:pPr lvl="1" algn="l">
              <a:lnSpc>
                <a:spcPct val="70000"/>
              </a:lnSpc>
            </a:pPr>
            <a:r>
              <a:rPr lang="en-IN" sz="2200" dirty="0">
                <a:latin typeface="Times New Roman" panose="02020603050405020304" pitchFamily="18" charset="0"/>
                <a:cs typeface="Times New Roman" panose="02020603050405020304" pitchFamily="18" charset="0"/>
              </a:rPr>
              <a:t>192.168.30.0</a:t>
            </a:r>
          </a:p>
          <a:p>
            <a:pPr lvl="0" algn="l">
              <a:lnSpc>
                <a:spcPct val="70000"/>
              </a:lnSpc>
            </a:pPr>
            <a:r>
              <a:rPr lang="en-IN" sz="2200" dirty="0">
                <a:latin typeface="Times New Roman" panose="02020603050405020304" pitchFamily="18" charset="0"/>
                <a:cs typeface="Times New Roman" panose="02020603050405020304" pitchFamily="18" charset="0"/>
              </a:rPr>
              <a:t>OSPF configured in Area 0.</a:t>
            </a:r>
          </a:p>
          <a:p>
            <a:pPr algn="l">
              <a:lnSpc>
                <a:spcPct val="70000"/>
              </a:lnSpc>
            </a:pPr>
            <a:r>
              <a:rPr lang="en-IN" b="1" dirty="0">
                <a:latin typeface="Times New Roman" panose="02020603050405020304" pitchFamily="18" charset="0"/>
                <a:cs typeface="Times New Roman" panose="02020603050405020304" pitchFamily="18" charset="0"/>
              </a:rPr>
              <a:t>OSPF Features:</a:t>
            </a:r>
          </a:p>
          <a:p>
            <a:pPr marL="342900" lvl="0" indent="-342900" algn="l">
              <a:lnSpc>
                <a:spcPct val="60000"/>
              </a:lnSpc>
              <a:buFont typeface="Wingdings" pitchFamily="2" charset="2"/>
              <a:buChar char="Ø"/>
            </a:pPr>
            <a:r>
              <a:rPr lang="en-IN" sz="2200" dirty="0">
                <a:latin typeface="Times New Roman" panose="02020603050405020304" pitchFamily="18" charset="0"/>
                <a:cs typeface="Times New Roman" panose="02020603050405020304" pitchFamily="18" charset="0"/>
              </a:rPr>
              <a:t>Link State Routing Protocol</a:t>
            </a:r>
          </a:p>
          <a:p>
            <a:pPr marL="342900" lvl="0" indent="-342900" algn="l">
              <a:lnSpc>
                <a:spcPct val="60000"/>
              </a:lnSpc>
              <a:buFont typeface="Wingdings" pitchFamily="2" charset="2"/>
              <a:buChar char="Ø"/>
            </a:pPr>
            <a:r>
              <a:rPr lang="en-IN" sz="2200" dirty="0">
                <a:latin typeface="Times New Roman" panose="02020603050405020304" pitchFamily="18" charset="0"/>
                <a:cs typeface="Times New Roman" panose="02020603050405020304" pitchFamily="18" charset="0"/>
              </a:rPr>
              <a:t>Uses Cost as the routing metric</a:t>
            </a:r>
          </a:p>
          <a:p>
            <a:pPr marL="342900" lvl="0" indent="-342900" algn="l">
              <a:lnSpc>
                <a:spcPct val="60000"/>
              </a:lnSpc>
              <a:buFont typeface="Wingdings" pitchFamily="2" charset="2"/>
              <a:buChar char="Ø"/>
            </a:pPr>
            <a:r>
              <a:rPr lang="en-IN" sz="2200" dirty="0">
                <a:latin typeface="Times New Roman" panose="02020603050405020304" pitchFamily="18" charset="0"/>
                <a:cs typeface="Times New Roman" panose="02020603050405020304" pitchFamily="18" charset="0"/>
              </a:rPr>
              <a:t>Calculates the shortest path automatically</a:t>
            </a:r>
          </a:p>
          <a:p>
            <a:pPr marL="342900" lvl="0" indent="-342900" algn="l">
              <a:lnSpc>
                <a:spcPct val="60000"/>
              </a:lnSpc>
              <a:buFont typeface="Wingdings" pitchFamily="2" charset="2"/>
              <a:buChar char="Ø"/>
            </a:pPr>
            <a:r>
              <a:rPr lang="en-IN" sz="2200" dirty="0">
                <a:latin typeface="Times New Roman" panose="02020603050405020304" pitchFamily="18" charset="0"/>
                <a:cs typeface="Times New Roman" panose="02020603050405020304" pitchFamily="18" charset="0"/>
              </a:rPr>
              <a:t>Faster convergence than RIP</a:t>
            </a:r>
          </a:p>
          <a:p>
            <a:pPr algn="l">
              <a:lnSpc>
                <a:spcPct val="70000"/>
              </a:lnSpc>
            </a:pPr>
            <a:r>
              <a:rPr lang="en-IN" b="1" dirty="0">
                <a:latin typeface="Times New Roman" panose="02020603050405020304" pitchFamily="18" charset="0"/>
                <a:cs typeface="Times New Roman" panose="02020603050405020304" pitchFamily="18" charset="0"/>
              </a:rPr>
              <a:t>Working:</a:t>
            </a:r>
          </a:p>
          <a:p>
            <a:pPr marL="342900" lvl="0" indent="-342900" algn="l">
              <a:lnSpc>
                <a:spcPct val="60000"/>
              </a:lnSpc>
              <a:buFont typeface="Wingdings" pitchFamily="2" charset="2"/>
              <a:buChar char="Ø"/>
            </a:pPr>
            <a:r>
              <a:rPr lang="en-IN" sz="2200" dirty="0">
                <a:latin typeface="Times New Roman" panose="02020603050405020304" pitchFamily="18" charset="0"/>
                <a:cs typeface="Times New Roman" panose="02020603050405020304" pitchFamily="18" charset="0"/>
              </a:rPr>
              <a:t>Routers exchange link-state information.</a:t>
            </a:r>
          </a:p>
          <a:p>
            <a:pPr marL="342900" lvl="0" indent="-342900" algn="l">
              <a:lnSpc>
                <a:spcPct val="60000"/>
              </a:lnSpc>
              <a:buFont typeface="Wingdings" pitchFamily="2" charset="2"/>
              <a:buChar char="Ø"/>
            </a:pPr>
            <a:r>
              <a:rPr lang="en-IN" sz="2200" dirty="0">
                <a:latin typeface="Times New Roman" panose="02020603050405020304" pitchFamily="18" charset="0"/>
                <a:cs typeface="Times New Roman" panose="02020603050405020304" pitchFamily="18" charset="0"/>
              </a:rPr>
              <a:t>Shortest path is calculated using the SPF algorithm.</a:t>
            </a:r>
          </a:p>
          <a:p>
            <a:pPr marL="342900" lvl="0" indent="-342900" algn="l">
              <a:lnSpc>
                <a:spcPct val="60000"/>
              </a:lnSpc>
              <a:buFont typeface="Wingdings" pitchFamily="2" charset="2"/>
              <a:buChar char="Ø"/>
            </a:pPr>
            <a:r>
              <a:rPr lang="en-IN" sz="2200" dirty="0">
                <a:latin typeface="Times New Roman" panose="02020603050405020304" pitchFamily="18" charset="0"/>
                <a:cs typeface="Times New Roman" panose="02020603050405020304" pitchFamily="18" charset="0"/>
              </a:rPr>
              <a:t>Ensures efficient communication between departments.</a:t>
            </a:r>
          </a:p>
          <a:p>
            <a:pPr algn="l">
              <a:lnSpc>
                <a:spcPct val="70000"/>
              </a:lnSpc>
            </a:pPr>
            <a:endParaRPr lang="en-US" sz="22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547D6C1B-BCFF-0304-4FF4-C50F8472BA1F}"/>
              </a:ext>
            </a:extLst>
          </p:cNvPr>
          <p:cNvPicPr>
            <a:picLocks noChangeAspect="1"/>
          </p:cNvPicPr>
          <p:nvPr/>
        </p:nvPicPr>
        <p:blipFill>
          <a:blip r:embed="rId2"/>
          <a:stretch>
            <a:fillRect/>
          </a:stretch>
        </p:blipFill>
        <p:spPr>
          <a:xfrm>
            <a:off x="11301985" y="0"/>
            <a:ext cx="890016" cy="890016"/>
          </a:xfrm>
          <a:prstGeom prst="rect">
            <a:avLst/>
          </a:prstGeom>
        </p:spPr>
      </p:pic>
      <p:pic>
        <p:nvPicPr>
          <p:cNvPr id="5" name="Picture 4">
            <a:extLst>
              <a:ext uri="{FF2B5EF4-FFF2-40B4-BE49-F238E27FC236}">
                <a16:creationId xmlns:a16="http://schemas.microsoft.com/office/drawing/2014/main" id="{807E2C59-4CCA-39E0-BBA9-4758686CA49E}"/>
              </a:ext>
            </a:extLst>
          </p:cNvPr>
          <p:cNvPicPr>
            <a:picLocks noChangeAspect="1"/>
          </p:cNvPicPr>
          <p:nvPr/>
        </p:nvPicPr>
        <p:blipFill>
          <a:blip r:embed="rId3"/>
          <a:stretch>
            <a:fillRect/>
          </a:stretch>
        </p:blipFill>
        <p:spPr>
          <a:xfrm>
            <a:off x="5993259" y="1736074"/>
            <a:ext cx="5972326" cy="2834894"/>
          </a:xfrm>
          <a:prstGeom prst="rect">
            <a:avLst/>
          </a:prstGeom>
        </p:spPr>
      </p:pic>
      <p:sp>
        <p:nvSpPr>
          <p:cNvPr id="7" name="TextBox 6">
            <a:extLst>
              <a:ext uri="{FF2B5EF4-FFF2-40B4-BE49-F238E27FC236}">
                <a16:creationId xmlns:a16="http://schemas.microsoft.com/office/drawing/2014/main" id="{930BEC57-D2D7-1480-370B-BE114281268C}"/>
              </a:ext>
            </a:extLst>
          </p:cNvPr>
          <p:cNvSpPr txBox="1"/>
          <p:nvPr/>
        </p:nvSpPr>
        <p:spPr>
          <a:xfrm>
            <a:off x="6272798" y="4570968"/>
            <a:ext cx="5413248" cy="369332"/>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Figure 3: </a:t>
            </a:r>
            <a:r>
              <a:rPr lang="en-IN" dirty="0">
                <a:latin typeface="Times New Roman" panose="02020603050405020304" pitchFamily="18" charset="0"/>
                <a:cs typeface="Times New Roman" panose="02020603050405020304" pitchFamily="18" charset="0"/>
              </a:rPr>
              <a:t>University Network Topology using OSPF</a:t>
            </a:r>
          </a:p>
        </p:txBody>
      </p:sp>
    </p:spTree>
    <p:extLst>
      <p:ext uri="{BB962C8B-B14F-4D97-AF65-F5344CB8AC3E}">
        <p14:creationId xmlns:p14="http://schemas.microsoft.com/office/powerpoint/2010/main" val="12505395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E0B7B-054B-7EA9-1C03-3E9271C298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9CD9D7-6B73-AF50-3A4F-BD6FB3600507}"/>
              </a:ext>
            </a:extLst>
          </p:cNvPr>
          <p:cNvSpPr>
            <a:spLocks noGrp="1"/>
          </p:cNvSpPr>
          <p:nvPr>
            <p:ph type="ctrTitle"/>
          </p:nvPr>
        </p:nvSpPr>
        <p:spPr>
          <a:xfrm>
            <a:off x="646175" y="689896"/>
            <a:ext cx="9997440" cy="864933"/>
          </a:xfrm>
        </p:spPr>
        <p:txBody>
          <a:bodyPr>
            <a:noAutofit/>
          </a:bodyPr>
          <a:lstStyle/>
          <a:p>
            <a:pPr algn="l"/>
            <a:r>
              <a:rPr lang="en-IN" dirty="0">
                <a:solidFill>
                  <a:srgbClr val="002060"/>
                </a:solidFill>
                <a:latin typeface="Times New Roman" panose="02020603050405020304" pitchFamily="18" charset="0"/>
                <a:cs typeface="Times New Roman" panose="02020603050405020304" pitchFamily="18" charset="0"/>
              </a:rPr>
              <a:t>Demonstration &amp; CLI (OSPF)</a:t>
            </a:r>
            <a:endParaRPr lang="en-US" dirty="0">
              <a:solidFill>
                <a:srgbClr val="00206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D535D54E-D5E1-D914-321E-53881840F756}"/>
              </a:ext>
            </a:extLst>
          </p:cNvPr>
          <p:cNvSpPr>
            <a:spLocks noGrp="1"/>
          </p:cNvSpPr>
          <p:nvPr>
            <p:ph type="subTitle" idx="1"/>
          </p:nvPr>
        </p:nvSpPr>
        <p:spPr>
          <a:xfrm>
            <a:off x="646175" y="1664564"/>
            <a:ext cx="6315457" cy="4413503"/>
          </a:xfrm>
        </p:spPr>
        <p:txBody>
          <a:bodyPr>
            <a:noAutofit/>
          </a:bodyPr>
          <a:lstStyle/>
          <a:p>
            <a:pPr algn="l">
              <a:lnSpc>
                <a:spcPct val="80000"/>
              </a:lnSpc>
            </a:pPr>
            <a:r>
              <a:rPr lang="en-IN" b="1" dirty="0">
                <a:latin typeface="Times New Roman" panose="02020603050405020304" pitchFamily="18" charset="0"/>
                <a:cs typeface="Times New Roman" panose="02020603050405020304" pitchFamily="18" charset="0"/>
              </a:rPr>
              <a:t>OSPF Configuration:</a:t>
            </a:r>
          </a:p>
          <a:p>
            <a:pPr marL="342900" lvl="0" indent="-342900" algn="l">
              <a:lnSpc>
                <a:spcPct val="70000"/>
              </a:lnSpc>
              <a:buFont typeface="Wingdings" pitchFamily="2" charset="2"/>
              <a:buChar char="Ø"/>
            </a:pPr>
            <a:r>
              <a:rPr lang="en-IN" sz="2200" dirty="0">
                <a:latin typeface="Times New Roman" panose="02020603050405020304" pitchFamily="18" charset="0"/>
                <a:cs typeface="Times New Roman" panose="02020603050405020304" pitchFamily="18" charset="0"/>
              </a:rPr>
              <a:t>OSPF configured on all routers using Area 0.</a:t>
            </a:r>
          </a:p>
          <a:p>
            <a:pPr marL="342900" lvl="0" indent="-342900" algn="l">
              <a:lnSpc>
                <a:spcPct val="70000"/>
              </a:lnSpc>
              <a:buFont typeface="Wingdings" pitchFamily="2" charset="2"/>
              <a:buChar char="Ø"/>
            </a:pPr>
            <a:r>
              <a:rPr lang="en-IN" sz="2200" dirty="0">
                <a:latin typeface="Times New Roman" panose="02020603050405020304" pitchFamily="18" charset="0"/>
                <a:cs typeface="Times New Roman" panose="02020603050405020304" pitchFamily="18" charset="0"/>
              </a:rPr>
              <a:t>Network information advertised successfully.</a:t>
            </a:r>
          </a:p>
          <a:p>
            <a:pPr marL="342900" lvl="0" indent="-342900" algn="l">
              <a:lnSpc>
                <a:spcPct val="70000"/>
              </a:lnSpc>
              <a:buFont typeface="Wingdings" pitchFamily="2" charset="2"/>
              <a:buChar char="Ø"/>
            </a:pPr>
            <a:r>
              <a:rPr lang="en-IN" sz="2200" dirty="0" err="1">
                <a:latin typeface="Times New Roman" panose="02020603050405020304" pitchFamily="18" charset="0"/>
                <a:cs typeface="Times New Roman" panose="02020603050405020304" pitchFamily="18" charset="0"/>
              </a:rPr>
              <a:t>Neighbor</a:t>
            </a:r>
            <a:r>
              <a:rPr lang="en-IN" sz="2200" dirty="0">
                <a:latin typeface="Times New Roman" panose="02020603050405020304" pitchFamily="18" charset="0"/>
                <a:cs typeface="Times New Roman" panose="02020603050405020304" pitchFamily="18" charset="0"/>
              </a:rPr>
              <a:t> relationships established between routers.</a:t>
            </a:r>
          </a:p>
          <a:p>
            <a:pPr algn="l">
              <a:lnSpc>
                <a:spcPct val="80000"/>
              </a:lnSpc>
            </a:pPr>
            <a:r>
              <a:rPr lang="en-IN" b="1" dirty="0">
                <a:latin typeface="Times New Roman" panose="02020603050405020304" pitchFamily="18" charset="0"/>
                <a:cs typeface="Times New Roman" panose="02020603050405020304" pitchFamily="18" charset="0"/>
              </a:rPr>
              <a:t>Demonstration:</a:t>
            </a:r>
          </a:p>
          <a:p>
            <a:pPr marL="342900" lvl="0" indent="-342900" algn="l">
              <a:lnSpc>
                <a:spcPct val="70000"/>
              </a:lnSpc>
              <a:buFont typeface="Wingdings" pitchFamily="2" charset="2"/>
              <a:buChar char="Ø"/>
            </a:pPr>
            <a:r>
              <a:rPr lang="en-IN" sz="2200" dirty="0">
                <a:latin typeface="Times New Roman" panose="02020603050405020304" pitchFamily="18" charset="0"/>
                <a:cs typeface="Times New Roman" panose="02020603050405020304" pitchFamily="18" charset="0"/>
              </a:rPr>
              <a:t>Link-state information exchanged automatically.</a:t>
            </a:r>
          </a:p>
          <a:p>
            <a:pPr marL="342900" lvl="0" indent="-342900" algn="l">
              <a:lnSpc>
                <a:spcPct val="70000"/>
              </a:lnSpc>
              <a:buFont typeface="Wingdings" pitchFamily="2" charset="2"/>
              <a:buChar char="Ø"/>
            </a:pPr>
            <a:r>
              <a:rPr lang="en-IN" sz="2200" dirty="0">
                <a:latin typeface="Times New Roman" panose="02020603050405020304" pitchFamily="18" charset="0"/>
                <a:cs typeface="Times New Roman" panose="02020603050405020304" pitchFamily="18" charset="0"/>
              </a:rPr>
              <a:t>Shortest path calculated using the SPF algorithm.</a:t>
            </a:r>
          </a:p>
          <a:p>
            <a:pPr marL="342900" lvl="0" indent="-342900" algn="l">
              <a:lnSpc>
                <a:spcPct val="70000"/>
              </a:lnSpc>
              <a:buFont typeface="Wingdings" pitchFamily="2" charset="2"/>
              <a:buChar char="Ø"/>
            </a:pPr>
            <a:r>
              <a:rPr lang="en-IN" sz="2200" dirty="0">
                <a:latin typeface="Times New Roman" panose="02020603050405020304" pitchFamily="18" charset="0"/>
                <a:cs typeface="Times New Roman" panose="02020603050405020304" pitchFamily="18" charset="0"/>
              </a:rPr>
              <a:t>Routing tables updated dynamically.</a:t>
            </a:r>
          </a:p>
          <a:p>
            <a:pPr marL="342900" lvl="0" indent="-342900" algn="l">
              <a:lnSpc>
                <a:spcPct val="70000"/>
              </a:lnSpc>
              <a:buFont typeface="Wingdings" pitchFamily="2" charset="2"/>
              <a:buChar char="Ø"/>
            </a:pPr>
            <a:r>
              <a:rPr lang="en-IN" sz="2200" dirty="0">
                <a:latin typeface="Times New Roman" panose="02020603050405020304" pitchFamily="18" charset="0"/>
                <a:cs typeface="Times New Roman" panose="02020603050405020304" pitchFamily="18" charset="0"/>
              </a:rPr>
              <a:t>Successful communication verified across all departments.</a:t>
            </a:r>
          </a:p>
          <a:p>
            <a:pPr algn="l">
              <a:lnSpc>
                <a:spcPct val="80000"/>
              </a:lnSpc>
            </a:pPr>
            <a:r>
              <a:rPr lang="en-IN" b="1" dirty="0">
                <a:latin typeface="Times New Roman" panose="02020603050405020304" pitchFamily="18" charset="0"/>
                <a:cs typeface="Times New Roman" panose="02020603050405020304" pitchFamily="18" charset="0"/>
              </a:rPr>
              <a:t>Observation: </a:t>
            </a:r>
            <a:r>
              <a:rPr lang="en-IN" sz="2200" dirty="0">
                <a:latin typeface="Times New Roman" panose="02020603050405020304" pitchFamily="18" charset="0"/>
                <a:cs typeface="Times New Roman" panose="02020603050405020304" pitchFamily="18" charset="0"/>
              </a:rPr>
              <a:t>OSPF provided efficient routing, fast convergence, and reliable connectivity throughout the university network.</a:t>
            </a:r>
          </a:p>
          <a:p>
            <a:pPr algn="l">
              <a:lnSpc>
                <a:spcPct val="80000"/>
              </a:lnSpc>
            </a:pPr>
            <a:endParaRPr lang="en-US" sz="22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05D6C299-8282-5856-2F15-BE4F52E8EE3D}"/>
              </a:ext>
            </a:extLst>
          </p:cNvPr>
          <p:cNvPicPr>
            <a:picLocks noChangeAspect="1"/>
          </p:cNvPicPr>
          <p:nvPr/>
        </p:nvPicPr>
        <p:blipFill>
          <a:blip r:embed="rId2"/>
          <a:stretch>
            <a:fillRect/>
          </a:stretch>
        </p:blipFill>
        <p:spPr>
          <a:xfrm>
            <a:off x="11301985" y="0"/>
            <a:ext cx="890016" cy="890016"/>
          </a:xfrm>
          <a:prstGeom prst="rect">
            <a:avLst/>
          </a:prstGeom>
        </p:spPr>
      </p:pic>
      <p:pic>
        <p:nvPicPr>
          <p:cNvPr id="4" name="Picture 3">
            <a:extLst>
              <a:ext uri="{FF2B5EF4-FFF2-40B4-BE49-F238E27FC236}">
                <a16:creationId xmlns:a16="http://schemas.microsoft.com/office/drawing/2014/main" id="{1B8943DD-A6DB-6888-A488-82BEFBE7F8D8}"/>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saturation sat="150000"/>
                    </a14:imgEffect>
                  </a14:imgLayer>
                </a14:imgProps>
              </a:ext>
            </a:extLst>
          </a:blip>
          <a:srcRect l="1114" r="371"/>
          <a:stretch>
            <a:fillRect/>
          </a:stretch>
        </p:blipFill>
        <p:spPr>
          <a:xfrm>
            <a:off x="6961632" y="1626946"/>
            <a:ext cx="5148000" cy="4317347"/>
          </a:xfrm>
          <a:prstGeom prst="rect">
            <a:avLst/>
          </a:prstGeom>
        </p:spPr>
      </p:pic>
      <p:sp>
        <p:nvSpPr>
          <p:cNvPr id="5" name="TextBox 4">
            <a:extLst>
              <a:ext uri="{FF2B5EF4-FFF2-40B4-BE49-F238E27FC236}">
                <a16:creationId xmlns:a16="http://schemas.microsoft.com/office/drawing/2014/main" id="{09950B85-87DA-93B5-A4CF-86679B809D84}"/>
              </a:ext>
            </a:extLst>
          </p:cNvPr>
          <p:cNvSpPr txBox="1"/>
          <p:nvPr/>
        </p:nvSpPr>
        <p:spPr>
          <a:xfrm>
            <a:off x="7020000" y="5944293"/>
            <a:ext cx="5089632" cy="646331"/>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Figure 4:</a:t>
            </a:r>
            <a:r>
              <a:rPr lang="en-IN" dirty="0">
                <a:latin typeface="Times New Roman" panose="02020603050405020304" pitchFamily="18" charset="0"/>
                <a:cs typeface="Times New Roman" panose="02020603050405020304" pitchFamily="18" charset="0"/>
              </a:rPr>
              <a:t> OSPF Configuration and Verification using Cisco IOS CLI</a:t>
            </a:r>
          </a:p>
        </p:txBody>
      </p:sp>
    </p:spTree>
    <p:extLst>
      <p:ext uri="{BB962C8B-B14F-4D97-AF65-F5344CB8AC3E}">
        <p14:creationId xmlns:p14="http://schemas.microsoft.com/office/powerpoint/2010/main" val="18213681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26817-3377-0762-6708-003D71FFFC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E44A8D-CAD1-FFFA-49C6-5C049C835075}"/>
              </a:ext>
            </a:extLst>
          </p:cNvPr>
          <p:cNvSpPr>
            <a:spLocks noGrp="1"/>
          </p:cNvSpPr>
          <p:nvPr>
            <p:ph type="ctrTitle"/>
          </p:nvPr>
        </p:nvSpPr>
        <p:spPr>
          <a:xfrm>
            <a:off x="640305" y="515811"/>
            <a:ext cx="9948672" cy="767397"/>
          </a:xfrm>
        </p:spPr>
        <p:txBody>
          <a:bodyPr>
            <a:noAutofit/>
          </a:bodyPr>
          <a:lstStyle/>
          <a:p>
            <a:pPr algn="l"/>
            <a:r>
              <a:rPr lang="en-IN" dirty="0">
                <a:solidFill>
                  <a:srgbClr val="002060"/>
                </a:solidFill>
                <a:latin typeface="Times New Roman" panose="02020603050405020304" pitchFamily="18" charset="0"/>
                <a:cs typeface="Times New Roman" panose="02020603050405020304" pitchFamily="18" charset="0"/>
              </a:rPr>
              <a:t>Comparison</a:t>
            </a:r>
            <a:endParaRPr lang="en-US" dirty="0">
              <a:solidFill>
                <a:srgbClr val="00206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5A5F3B93-FDF8-B577-8716-6CF6D47C7D99}"/>
              </a:ext>
            </a:extLst>
          </p:cNvPr>
          <p:cNvSpPr>
            <a:spLocks noGrp="1"/>
          </p:cNvSpPr>
          <p:nvPr>
            <p:ph type="subTitle" idx="1"/>
          </p:nvPr>
        </p:nvSpPr>
        <p:spPr>
          <a:xfrm>
            <a:off x="719328" y="1331976"/>
            <a:ext cx="10582657" cy="1316736"/>
          </a:xfrm>
        </p:spPr>
        <p:txBody>
          <a:bodyPr>
            <a:noAutofit/>
          </a:bodyPr>
          <a:lstStyle/>
          <a:p>
            <a:pPr algn="l">
              <a:lnSpc>
                <a:spcPct val="60000"/>
              </a:lnSpc>
              <a:spcAft>
                <a:spcPts val="400"/>
              </a:spcAft>
            </a:pPr>
            <a:r>
              <a:rPr lang="en-IN" b="1" dirty="0">
                <a:latin typeface="Times New Roman" panose="02020603050405020304" pitchFamily="18" charset="0"/>
                <a:cs typeface="Times New Roman" panose="02020603050405020304" pitchFamily="18" charset="0"/>
              </a:rPr>
              <a:t>PDU Transfer Test:</a:t>
            </a:r>
          </a:p>
          <a:p>
            <a:pPr marL="342900" lvl="0" indent="-342900" algn="l">
              <a:lnSpc>
                <a:spcPct val="55000"/>
              </a:lnSpc>
              <a:buFont typeface="Wingdings" pitchFamily="2" charset="2"/>
              <a:buChar char="Ø"/>
            </a:pPr>
            <a:r>
              <a:rPr lang="en-IN" sz="2200" dirty="0">
                <a:latin typeface="Times New Roman" panose="02020603050405020304" pitchFamily="18" charset="0"/>
                <a:cs typeface="Times New Roman" panose="02020603050405020304" pitchFamily="18" charset="0"/>
              </a:rPr>
              <a:t>PDU sent from Academic LAN to Research LAN.</a:t>
            </a:r>
          </a:p>
          <a:p>
            <a:pPr marL="342900" lvl="0" indent="-342900" algn="l">
              <a:lnSpc>
                <a:spcPct val="55000"/>
              </a:lnSpc>
              <a:buFont typeface="Wingdings" pitchFamily="2" charset="2"/>
              <a:buChar char="Ø"/>
            </a:pPr>
            <a:r>
              <a:rPr lang="en-IN" sz="2200" dirty="0">
                <a:latin typeface="Times New Roman" panose="02020603050405020304" pitchFamily="18" charset="0"/>
                <a:cs typeface="Times New Roman" panose="02020603050405020304" pitchFamily="18" charset="0"/>
              </a:rPr>
              <a:t>Successful packet delivery in both RIP and OSPF.</a:t>
            </a:r>
          </a:p>
          <a:p>
            <a:pPr marL="342900" lvl="0" indent="-342900" algn="l">
              <a:lnSpc>
                <a:spcPct val="55000"/>
              </a:lnSpc>
              <a:buFont typeface="Wingdings" pitchFamily="2" charset="2"/>
              <a:buChar char="Ø"/>
            </a:pPr>
            <a:r>
              <a:rPr lang="en-IN" sz="2200" dirty="0">
                <a:latin typeface="Times New Roman" panose="02020603050405020304" pitchFamily="18" charset="0"/>
                <a:cs typeface="Times New Roman" panose="02020603050405020304" pitchFamily="18" charset="0"/>
              </a:rPr>
              <a:t>OSPF selected the optimal path more efficiently.</a:t>
            </a:r>
          </a:p>
          <a:p>
            <a:pPr algn="l">
              <a:lnSpc>
                <a:spcPct val="60000"/>
              </a:lnSpc>
            </a:pPr>
            <a:endParaRPr lang="en-US" sz="22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5F1DA513-CA9E-1BE0-BEE8-9A363E3DE3EB}"/>
              </a:ext>
            </a:extLst>
          </p:cNvPr>
          <p:cNvPicPr>
            <a:picLocks noChangeAspect="1"/>
          </p:cNvPicPr>
          <p:nvPr/>
        </p:nvPicPr>
        <p:blipFill>
          <a:blip r:embed="rId2"/>
          <a:stretch>
            <a:fillRect/>
          </a:stretch>
        </p:blipFill>
        <p:spPr>
          <a:xfrm>
            <a:off x="11301985" y="0"/>
            <a:ext cx="890016" cy="890016"/>
          </a:xfrm>
          <a:prstGeom prst="rect">
            <a:avLst/>
          </a:prstGeom>
        </p:spPr>
      </p:pic>
      <p:graphicFrame>
        <p:nvGraphicFramePr>
          <p:cNvPr id="4" name="Table 3">
            <a:extLst>
              <a:ext uri="{FF2B5EF4-FFF2-40B4-BE49-F238E27FC236}">
                <a16:creationId xmlns:a16="http://schemas.microsoft.com/office/drawing/2014/main" id="{880E4C52-02EA-E95B-5568-C34F56D53EBE}"/>
              </a:ext>
            </a:extLst>
          </p:cNvPr>
          <p:cNvGraphicFramePr>
            <a:graphicFrameLocks noGrp="1"/>
          </p:cNvGraphicFramePr>
          <p:nvPr>
            <p:extLst>
              <p:ext uri="{D42A27DB-BD31-4B8C-83A1-F6EECF244321}">
                <p14:modId xmlns:p14="http://schemas.microsoft.com/office/powerpoint/2010/main" val="1733175542"/>
              </p:ext>
            </p:extLst>
          </p:nvPr>
        </p:nvGraphicFramePr>
        <p:xfrm>
          <a:off x="1194816" y="2685288"/>
          <a:ext cx="8136127" cy="2804160"/>
        </p:xfrm>
        <a:graphic>
          <a:graphicData uri="http://schemas.openxmlformats.org/drawingml/2006/table">
            <a:tbl>
              <a:tblPr firstRow="1" bandRow="1">
                <a:tableStyleId>{6E25E649-3F16-4E02-A733-19D2CDBF48F0}</a:tableStyleId>
              </a:tblPr>
              <a:tblGrid>
                <a:gridCol w="2717461">
                  <a:extLst>
                    <a:ext uri="{9D8B030D-6E8A-4147-A177-3AD203B41FA5}">
                      <a16:colId xmlns:a16="http://schemas.microsoft.com/office/drawing/2014/main" val="1739361683"/>
                    </a:ext>
                  </a:extLst>
                </a:gridCol>
                <a:gridCol w="2709333">
                  <a:extLst>
                    <a:ext uri="{9D8B030D-6E8A-4147-A177-3AD203B41FA5}">
                      <a16:colId xmlns:a16="http://schemas.microsoft.com/office/drawing/2014/main" val="3262256136"/>
                    </a:ext>
                  </a:extLst>
                </a:gridCol>
                <a:gridCol w="2709333">
                  <a:extLst>
                    <a:ext uri="{9D8B030D-6E8A-4147-A177-3AD203B41FA5}">
                      <a16:colId xmlns:a16="http://schemas.microsoft.com/office/drawing/2014/main" val="1678259665"/>
                    </a:ext>
                  </a:extLst>
                </a:gridCol>
              </a:tblGrid>
              <a:tr h="370840">
                <a:tc>
                  <a:txBody>
                    <a:bodyPr/>
                    <a:lstStyle/>
                    <a:p>
                      <a:pPr algn="ctr"/>
                      <a:r>
                        <a:rPr lang="en-IN" sz="2200" b="0" i="0" u="none" strike="noStrike" kern="1200" dirty="0">
                          <a:solidFill>
                            <a:schemeClr val="lt1"/>
                          </a:solidFill>
                          <a:effectLst/>
                          <a:latin typeface="Times New Roman" panose="02020603050405020304" pitchFamily="18" charset="0"/>
                          <a:ea typeface="+mn-ea"/>
                          <a:cs typeface="Times New Roman" panose="02020603050405020304" pitchFamily="18" charset="0"/>
                        </a:rPr>
                        <a:t>Parameter</a:t>
                      </a:r>
                      <a:endParaRPr lang="en-US" sz="22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2200" b="0" i="0" u="none" strike="noStrike" dirty="0">
                          <a:solidFill>
                            <a:schemeClr val="bg1"/>
                          </a:solidFill>
                          <a:effectLst/>
                          <a:latin typeface="Times New Roman" panose="02020603050405020304" pitchFamily="18" charset="0"/>
                          <a:cs typeface="Times New Roman" panose="02020603050405020304" pitchFamily="18" charset="0"/>
                        </a:rPr>
                        <a:t>RIP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2200" b="0" i="0" u="none" strike="noStrike" dirty="0">
                          <a:solidFill>
                            <a:schemeClr val="bg1"/>
                          </a:solidFill>
                          <a:effectLst/>
                          <a:latin typeface="Times New Roman" panose="02020603050405020304" pitchFamily="18" charset="0"/>
                          <a:cs typeface="Times New Roman" panose="02020603050405020304" pitchFamily="18" charset="0"/>
                        </a:rPr>
                        <a:t>OSPF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7283139"/>
                  </a:ext>
                </a:extLst>
              </a:tr>
              <a:tr h="370840">
                <a:tc>
                  <a:txBody>
                    <a:bodyPr/>
                    <a:lstStyle/>
                    <a:p>
                      <a:pPr algn="ctr">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Routing 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Distance Vector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Link State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9980112"/>
                  </a:ext>
                </a:extLst>
              </a:tr>
              <a:tr h="370840">
                <a:tc>
                  <a:txBody>
                    <a:bodyPr/>
                    <a:lstStyle/>
                    <a:p>
                      <a:pPr algn="ctr">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Metric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Hop Count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Cost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9513416"/>
                  </a:ext>
                </a:extLst>
              </a:tr>
              <a:tr h="370840">
                <a:tc>
                  <a:txBody>
                    <a:bodyPr/>
                    <a:lstStyle/>
                    <a:p>
                      <a:pPr algn="ctr">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Max Hops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Unlimited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4285074"/>
                  </a:ext>
                </a:extLst>
              </a:tr>
              <a:tr h="370840">
                <a:tc>
                  <a:txBody>
                    <a:bodyPr/>
                    <a:lstStyle/>
                    <a:p>
                      <a:pPr algn="ctr">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Updates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Periodic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Event-Driven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3822561"/>
                  </a:ext>
                </a:extLst>
              </a:tr>
              <a:tr h="370840">
                <a:tc>
                  <a:txBody>
                    <a:bodyPr/>
                    <a:lstStyle/>
                    <a:p>
                      <a:pPr algn="ctr">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Scalability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4489085"/>
                  </a:ext>
                </a:extLst>
              </a:tr>
              <a:tr h="370840">
                <a:tc>
                  <a:txBody>
                    <a:bodyPr/>
                    <a:lstStyle/>
                    <a:p>
                      <a:pPr algn="ctr">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Convergence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Slow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2000" b="0" i="0" u="none" strike="noStrike" kern="1200" dirty="0">
                          <a:solidFill>
                            <a:schemeClr val="dk1"/>
                          </a:solidFill>
                          <a:effectLst/>
                          <a:latin typeface="Times New Roman" panose="02020603050405020304" pitchFamily="18" charset="0"/>
                          <a:ea typeface="+mn-ea"/>
                          <a:cs typeface="Times New Roman" panose="02020603050405020304" pitchFamily="18" charset="0"/>
                        </a:rPr>
                        <a:t>Fast</a:t>
                      </a:r>
                      <a:endParaRPr lang="en-IN"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5403808"/>
                  </a:ext>
                </a:extLst>
              </a:tr>
            </a:tbl>
          </a:graphicData>
        </a:graphic>
      </p:graphicFrame>
      <p:sp>
        <p:nvSpPr>
          <p:cNvPr id="5" name="TextBox 4">
            <a:extLst>
              <a:ext uri="{FF2B5EF4-FFF2-40B4-BE49-F238E27FC236}">
                <a16:creationId xmlns:a16="http://schemas.microsoft.com/office/drawing/2014/main" id="{AA30CD16-5E14-3BD7-9D66-9169AD199D52}"/>
              </a:ext>
            </a:extLst>
          </p:cNvPr>
          <p:cNvSpPr txBox="1"/>
          <p:nvPr/>
        </p:nvSpPr>
        <p:spPr>
          <a:xfrm>
            <a:off x="719327" y="5489448"/>
            <a:ext cx="10290049" cy="800219"/>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Observation: </a:t>
            </a:r>
            <a:r>
              <a:rPr lang="en-IN" sz="2200" dirty="0">
                <a:latin typeface="Times New Roman" panose="02020603050405020304" pitchFamily="18" charset="0"/>
                <a:cs typeface="Times New Roman" panose="02020603050405020304" pitchFamily="18" charset="0"/>
              </a:rPr>
              <a:t>Both protocols provide connectivity, but OSPF offers faster convergence, better scalability, and more efficient path selection.</a:t>
            </a:r>
          </a:p>
        </p:txBody>
      </p:sp>
    </p:spTree>
    <p:extLst>
      <p:ext uri="{BB962C8B-B14F-4D97-AF65-F5344CB8AC3E}">
        <p14:creationId xmlns:p14="http://schemas.microsoft.com/office/powerpoint/2010/main" val="27391224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7421C-1FA4-873A-13A7-897C70F83B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F0C785-C8E6-8E6B-CFF2-EBB49F83F44E}"/>
              </a:ext>
            </a:extLst>
          </p:cNvPr>
          <p:cNvSpPr>
            <a:spLocks noGrp="1"/>
          </p:cNvSpPr>
          <p:nvPr>
            <p:ph type="ctrTitle"/>
          </p:nvPr>
        </p:nvSpPr>
        <p:spPr>
          <a:xfrm>
            <a:off x="343634" y="396589"/>
            <a:ext cx="11667744" cy="986853"/>
          </a:xfrm>
        </p:spPr>
        <p:txBody>
          <a:bodyPr>
            <a:noAutofit/>
          </a:bodyPr>
          <a:lstStyle/>
          <a:p>
            <a:pPr algn="l"/>
            <a:r>
              <a:rPr lang="en-IN" sz="5800" dirty="0">
                <a:solidFill>
                  <a:srgbClr val="002060"/>
                </a:solidFill>
                <a:latin typeface="Times New Roman" panose="02020603050405020304" pitchFamily="18" charset="0"/>
                <a:cs typeface="Times New Roman" panose="02020603050405020304" pitchFamily="18" charset="0"/>
              </a:rPr>
              <a:t>Convergence &amp; Performance Analysis</a:t>
            </a:r>
            <a:endParaRPr lang="en-US" sz="5800" dirty="0">
              <a:solidFill>
                <a:srgbClr val="00206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ED46A5CA-EF2B-8650-888E-2F33D5DFE661}"/>
              </a:ext>
            </a:extLst>
          </p:cNvPr>
          <p:cNvSpPr>
            <a:spLocks noGrp="1"/>
          </p:cNvSpPr>
          <p:nvPr>
            <p:ph type="subTitle" idx="1"/>
          </p:nvPr>
        </p:nvSpPr>
        <p:spPr>
          <a:xfrm>
            <a:off x="524256" y="1499616"/>
            <a:ext cx="10777728" cy="2426208"/>
          </a:xfrm>
        </p:spPr>
        <p:txBody>
          <a:bodyPr numCol="2">
            <a:normAutofit lnSpcReduction="10000"/>
          </a:bodyPr>
          <a:lstStyle/>
          <a:p>
            <a:pPr algn="l">
              <a:lnSpc>
                <a:spcPct val="65000"/>
              </a:lnSpc>
              <a:spcAft>
                <a:spcPts val="600"/>
              </a:spcAft>
            </a:pPr>
            <a:r>
              <a:rPr lang="en-IN" sz="2600" b="1" dirty="0">
                <a:latin typeface="Times New Roman" panose="02020603050405020304" pitchFamily="18" charset="0"/>
                <a:cs typeface="Times New Roman" panose="02020603050405020304" pitchFamily="18" charset="0"/>
              </a:rPr>
              <a:t>Convergence Analysis:</a:t>
            </a:r>
          </a:p>
          <a:p>
            <a:pPr algn="l">
              <a:lnSpc>
                <a:spcPct val="65000"/>
              </a:lnSpc>
            </a:pPr>
            <a:r>
              <a:rPr lang="en-IN" b="1" dirty="0">
                <a:latin typeface="Times New Roman" panose="02020603050405020304" pitchFamily="18" charset="0"/>
                <a:cs typeface="Times New Roman" panose="02020603050405020304" pitchFamily="18" charset="0"/>
              </a:rPr>
              <a:t>RIP:</a:t>
            </a:r>
          </a:p>
          <a:p>
            <a:pPr marL="342900" lvl="0" indent="-342900" algn="l">
              <a:lnSpc>
                <a:spcPct val="60000"/>
              </a:lnSpc>
              <a:buFont typeface="Wingdings" pitchFamily="2" charset="2"/>
              <a:buChar char="Ø"/>
            </a:pPr>
            <a:r>
              <a:rPr lang="en-IN" sz="2200" dirty="0">
                <a:latin typeface="Times New Roman" panose="02020603050405020304" pitchFamily="18" charset="0"/>
                <a:cs typeface="Times New Roman" panose="02020603050405020304" pitchFamily="18" charset="0"/>
              </a:rPr>
              <a:t>Slow convergence.</a:t>
            </a:r>
          </a:p>
          <a:p>
            <a:pPr marL="342900" lvl="0" indent="-342900" algn="l">
              <a:lnSpc>
                <a:spcPct val="60000"/>
              </a:lnSpc>
              <a:buFont typeface="Wingdings" pitchFamily="2" charset="2"/>
              <a:buChar char="Ø"/>
            </a:pPr>
            <a:r>
              <a:rPr lang="en-IN" sz="2200" dirty="0">
                <a:latin typeface="Times New Roman" panose="02020603050405020304" pitchFamily="18" charset="0"/>
                <a:cs typeface="Times New Roman" panose="02020603050405020304" pitchFamily="18" charset="0"/>
              </a:rPr>
              <a:t>Periodic updates every 30 seconds.</a:t>
            </a:r>
          </a:p>
          <a:p>
            <a:pPr marL="342900" lvl="0" indent="-342900" algn="l">
              <a:lnSpc>
                <a:spcPct val="60000"/>
              </a:lnSpc>
              <a:buFont typeface="Wingdings" pitchFamily="2" charset="2"/>
              <a:buChar char="Ø"/>
            </a:pPr>
            <a:r>
              <a:rPr lang="en-IN" sz="2200" dirty="0">
                <a:latin typeface="Times New Roman" panose="02020603050405020304" pitchFamily="18" charset="0"/>
                <a:cs typeface="Times New Roman" panose="02020603050405020304" pitchFamily="18" charset="0"/>
              </a:rPr>
              <a:t>Temporary routing loops may occur.</a:t>
            </a:r>
          </a:p>
          <a:p>
            <a:pPr lvl="0" algn="l">
              <a:lnSpc>
                <a:spcPct val="65000"/>
              </a:lnSpc>
            </a:pPr>
            <a:endParaRPr lang="en-IN" sz="2200" dirty="0">
              <a:latin typeface="Times New Roman" panose="02020603050405020304" pitchFamily="18" charset="0"/>
              <a:cs typeface="Times New Roman" panose="02020603050405020304" pitchFamily="18" charset="0"/>
            </a:endParaRPr>
          </a:p>
          <a:p>
            <a:pPr lvl="0" algn="l">
              <a:lnSpc>
                <a:spcPct val="65000"/>
              </a:lnSpc>
            </a:pPr>
            <a:endParaRPr lang="en-IN" sz="2200" dirty="0">
              <a:latin typeface="Times New Roman" panose="02020603050405020304" pitchFamily="18" charset="0"/>
              <a:cs typeface="Times New Roman" panose="02020603050405020304" pitchFamily="18" charset="0"/>
            </a:endParaRPr>
          </a:p>
          <a:p>
            <a:pPr lvl="0" algn="l">
              <a:lnSpc>
                <a:spcPct val="65000"/>
              </a:lnSpc>
            </a:pPr>
            <a:endParaRPr lang="en-IN" sz="2200" dirty="0">
              <a:latin typeface="Times New Roman" panose="02020603050405020304" pitchFamily="18" charset="0"/>
              <a:cs typeface="Times New Roman" panose="02020603050405020304" pitchFamily="18" charset="0"/>
            </a:endParaRPr>
          </a:p>
          <a:p>
            <a:pPr algn="l">
              <a:lnSpc>
                <a:spcPct val="65000"/>
              </a:lnSpc>
            </a:pPr>
            <a:r>
              <a:rPr lang="en-IN" b="1" dirty="0">
                <a:latin typeface="Times New Roman" panose="02020603050405020304" pitchFamily="18" charset="0"/>
                <a:cs typeface="Times New Roman" panose="02020603050405020304" pitchFamily="18" charset="0"/>
              </a:rPr>
              <a:t>OSPF:</a:t>
            </a:r>
          </a:p>
          <a:p>
            <a:pPr marL="342900" lvl="0" indent="-342900" algn="l">
              <a:lnSpc>
                <a:spcPct val="60000"/>
              </a:lnSpc>
              <a:buFont typeface="Wingdings" pitchFamily="2" charset="2"/>
              <a:buChar char="Ø"/>
            </a:pPr>
            <a:r>
              <a:rPr lang="en-IN" sz="2200" dirty="0">
                <a:latin typeface="Times New Roman" panose="02020603050405020304" pitchFamily="18" charset="0"/>
                <a:cs typeface="Times New Roman" panose="02020603050405020304" pitchFamily="18" charset="0"/>
              </a:rPr>
              <a:t>Fast convergence.</a:t>
            </a:r>
          </a:p>
          <a:p>
            <a:pPr marL="342900" lvl="0" indent="-342900" algn="l">
              <a:lnSpc>
                <a:spcPct val="60000"/>
              </a:lnSpc>
              <a:buFont typeface="Wingdings" pitchFamily="2" charset="2"/>
              <a:buChar char="Ø"/>
            </a:pPr>
            <a:r>
              <a:rPr lang="en-IN" sz="2200" dirty="0">
                <a:latin typeface="Times New Roman" panose="02020603050405020304" pitchFamily="18" charset="0"/>
                <a:cs typeface="Times New Roman" panose="02020603050405020304" pitchFamily="18" charset="0"/>
              </a:rPr>
              <a:t>Immediate updates after topology changes.</a:t>
            </a:r>
          </a:p>
          <a:p>
            <a:pPr marL="342900" lvl="0" indent="-342900" algn="l">
              <a:lnSpc>
                <a:spcPct val="60000"/>
              </a:lnSpc>
              <a:buFont typeface="Wingdings" pitchFamily="2" charset="2"/>
              <a:buChar char="Ø"/>
            </a:pPr>
            <a:r>
              <a:rPr lang="en-IN" sz="2200" dirty="0">
                <a:latin typeface="Times New Roman" panose="02020603050405020304" pitchFamily="18" charset="0"/>
                <a:cs typeface="Times New Roman" panose="02020603050405020304" pitchFamily="18" charset="0"/>
              </a:rPr>
              <a:t>Better stability.</a:t>
            </a:r>
          </a:p>
          <a:p>
            <a:endParaRPr lang="en-US" dirty="0"/>
          </a:p>
        </p:txBody>
      </p:sp>
      <p:pic>
        <p:nvPicPr>
          <p:cNvPr id="6" name="Picture 5">
            <a:extLst>
              <a:ext uri="{FF2B5EF4-FFF2-40B4-BE49-F238E27FC236}">
                <a16:creationId xmlns:a16="http://schemas.microsoft.com/office/drawing/2014/main" id="{997181FB-5447-C842-F40C-4CF2C9A15A78}"/>
              </a:ext>
            </a:extLst>
          </p:cNvPr>
          <p:cNvPicPr>
            <a:picLocks noChangeAspect="1"/>
          </p:cNvPicPr>
          <p:nvPr/>
        </p:nvPicPr>
        <p:blipFill>
          <a:blip r:embed="rId2"/>
          <a:stretch>
            <a:fillRect/>
          </a:stretch>
        </p:blipFill>
        <p:spPr>
          <a:xfrm>
            <a:off x="11301985" y="0"/>
            <a:ext cx="890016" cy="890016"/>
          </a:xfrm>
          <a:prstGeom prst="rect">
            <a:avLst/>
          </a:prstGeom>
        </p:spPr>
      </p:pic>
      <p:graphicFrame>
        <p:nvGraphicFramePr>
          <p:cNvPr id="4" name="Table 3">
            <a:extLst>
              <a:ext uri="{FF2B5EF4-FFF2-40B4-BE49-F238E27FC236}">
                <a16:creationId xmlns:a16="http://schemas.microsoft.com/office/drawing/2014/main" id="{6DD0B0D9-6FEA-EE23-B7F1-B5992A625415}"/>
              </a:ext>
            </a:extLst>
          </p:cNvPr>
          <p:cNvGraphicFramePr>
            <a:graphicFrameLocks noGrp="1"/>
          </p:cNvGraphicFramePr>
          <p:nvPr>
            <p:extLst>
              <p:ext uri="{D42A27DB-BD31-4B8C-83A1-F6EECF244321}">
                <p14:modId xmlns:p14="http://schemas.microsoft.com/office/powerpoint/2010/main" val="2337308318"/>
              </p:ext>
            </p:extLst>
          </p:nvPr>
        </p:nvGraphicFramePr>
        <p:xfrm>
          <a:off x="1117600" y="3254914"/>
          <a:ext cx="8794497" cy="2468880"/>
        </p:xfrm>
        <a:graphic>
          <a:graphicData uri="http://schemas.openxmlformats.org/drawingml/2006/table">
            <a:tbl>
              <a:tblPr firstRow="1" bandRow="1">
                <a:tableStyleId>{5C22544A-7EE6-4342-B048-85BDC9FD1C3A}</a:tableStyleId>
              </a:tblPr>
              <a:tblGrid>
                <a:gridCol w="2931499">
                  <a:extLst>
                    <a:ext uri="{9D8B030D-6E8A-4147-A177-3AD203B41FA5}">
                      <a16:colId xmlns:a16="http://schemas.microsoft.com/office/drawing/2014/main" val="1191001742"/>
                    </a:ext>
                  </a:extLst>
                </a:gridCol>
                <a:gridCol w="2931499">
                  <a:extLst>
                    <a:ext uri="{9D8B030D-6E8A-4147-A177-3AD203B41FA5}">
                      <a16:colId xmlns:a16="http://schemas.microsoft.com/office/drawing/2014/main" val="2820735299"/>
                    </a:ext>
                  </a:extLst>
                </a:gridCol>
                <a:gridCol w="2931499">
                  <a:extLst>
                    <a:ext uri="{9D8B030D-6E8A-4147-A177-3AD203B41FA5}">
                      <a16:colId xmlns:a16="http://schemas.microsoft.com/office/drawing/2014/main" val="1479537791"/>
                    </a:ext>
                  </a:extLst>
                </a:gridCol>
              </a:tblGrid>
              <a:tr h="422884">
                <a:tc>
                  <a:txBody>
                    <a:bodyPr/>
                    <a:lstStyle/>
                    <a:p>
                      <a:pPr algn="l">
                        <a:buNone/>
                      </a:pPr>
                      <a:r>
                        <a:rPr lang="en-IN" sz="2200" b="0" i="0" u="none" strike="noStrike" dirty="0">
                          <a:solidFill>
                            <a:schemeClr val="bg1"/>
                          </a:solidFill>
                          <a:effectLst/>
                          <a:latin typeface="Times New Roman" panose="02020603050405020304" pitchFamily="18" charset="0"/>
                          <a:cs typeface="Times New Roman" panose="02020603050405020304" pitchFamily="18" charset="0"/>
                        </a:rPr>
                        <a:t>Parameter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2200" b="0" i="0" u="none" strike="noStrike" dirty="0">
                          <a:solidFill>
                            <a:schemeClr val="bg1"/>
                          </a:solidFill>
                          <a:effectLst/>
                          <a:latin typeface="Times New Roman" panose="02020603050405020304" pitchFamily="18" charset="0"/>
                          <a:cs typeface="Times New Roman" panose="02020603050405020304" pitchFamily="18" charset="0"/>
                        </a:rPr>
                        <a:t>RIP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2200" b="0" i="0" u="none" strike="noStrike" dirty="0">
                          <a:solidFill>
                            <a:schemeClr val="bg1"/>
                          </a:solidFill>
                          <a:effectLst/>
                          <a:latin typeface="Times New Roman" panose="02020603050405020304" pitchFamily="18" charset="0"/>
                          <a:cs typeface="Times New Roman" panose="02020603050405020304" pitchFamily="18" charset="0"/>
                        </a:rPr>
                        <a:t>OSPF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54981546"/>
                  </a:ext>
                </a:extLst>
              </a:tr>
              <a:tr h="392678">
                <a:tc>
                  <a:txBody>
                    <a:bodyPr/>
                    <a:lstStyle/>
                    <a:p>
                      <a:pPr algn="l">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Convergence Speed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Slow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Fast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1926863"/>
                  </a:ext>
                </a:extLst>
              </a:tr>
              <a:tr h="457200">
                <a:tc>
                  <a:txBody>
                    <a:bodyPr/>
                    <a:lstStyle/>
                    <a:p>
                      <a:pPr algn="l">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Network Growth Support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Limited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2000" b="0" i="0" u="none" strike="noStrike">
                          <a:solidFill>
                            <a:srgbClr val="000000"/>
                          </a:solidFill>
                          <a:effectLst/>
                          <a:latin typeface="Times New Roman" panose="02020603050405020304" pitchFamily="18" charset="0"/>
                          <a:cs typeface="Times New Roman" panose="02020603050405020304" pitchFamily="18" charset="0"/>
                        </a:rPr>
                        <a:t>Excellent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51588695"/>
                  </a:ext>
                </a:extLst>
              </a:tr>
              <a:tr h="392678">
                <a:tc>
                  <a:txBody>
                    <a:bodyPr/>
                    <a:lstStyle/>
                    <a:p>
                      <a:pPr algn="l">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Path Selection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Hop Based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2000" b="0" i="0" u="none" strike="noStrike">
                          <a:solidFill>
                            <a:srgbClr val="000000"/>
                          </a:solidFill>
                          <a:effectLst/>
                          <a:latin typeface="Times New Roman" panose="02020603050405020304" pitchFamily="18" charset="0"/>
                          <a:cs typeface="Times New Roman" panose="02020603050405020304" pitchFamily="18" charset="0"/>
                        </a:rPr>
                        <a:t>Cost Based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5397079"/>
                  </a:ext>
                </a:extLst>
              </a:tr>
              <a:tr h="392678">
                <a:tc>
                  <a:txBody>
                    <a:bodyPr/>
                    <a:lstStyle/>
                    <a:p>
                      <a:pPr algn="l">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Reliability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Moderate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2000" b="0" i="0" u="none" strike="noStrike">
                          <a:solidFill>
                            <a:srgbClr val="000000"/>
                          </a:solidFill>
                          <a:effectLst/>
                          <a:latin typeface="Times New Roman" panose="02020603050405020304" pitchFamily="18" charset="0"/>
                          <a:cs typeface="Times New Roman" panose="02020603050405020304" pitchFamily="18" charset="0"/>
                        </a:rPr>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9215122"/>
                  </a:ext>
                </a:extLst>
              </a:tr>
              <a:tr h="392678">
                <a:tc>
                  <a:txBody>
                    <a:bodyPr/>
                    <a:lstStyle/>
                    <a:p>
                      <a:pPr algn="l">
                        <a:buNone/>
                      </a:pPr>
                      <a:r>
                        <a:rPr lang="en-IN" sz="2000" b="0" i="0" u="none" strike="noStrike">
                          <a:solidFill>
                            <a:srgbClr val="000000"/>
                          </a:solidFill>
                          <a:effectLst/>
                          <a:latin typeface="Times New Roman" panose="02020603050405020304" pitchFamily="18" charset="0"/>
                          <a:cs typeface="Times New Roman" panose="02020603050405020304" pitchFamily="18" charset="0"/>
                        </a:rPr>
                        <a:t>Enterprise Suitability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7147339"/>
                  </a:ext>
                </a:extLst>
              </a:tr>
            </a:tbl>
          </a:graphicData>
        </a:graphic>
      </p:graphicFrame>
      <p:sp>
        <p:nvSpPr>
          <p:cNvPr id="5" name="TextBox 4">
            <a:extLst>
              <a:ext uri="{FF2B5EF4-FFF2-40B4-BE49-F238E27FC236}">
                <a16:creationId xmlns:a16="http://schemas.microsoft.com/office/drawing/2014/main" id="{A8CCFF80-0910-D577-278A-96127451C072}"/>
              </a:ext>
            </a:extLst>
          </p:cNvPr>
          <p:cNvSpPr txBox="1"/>
          <p:nvPr/>
        </p:nvSpPr>
        <p:spPr>
          <a:xfrm>
            <a:off x="524256" y="5797296"/>
            <a:ext cx="10180320"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Analysis: </a:t>
            </a:r>
            <a:r>
              <a:rPr lang="en-IN" sz="2200" dirty="0">
                <a:latin typeface="Times New Roman" panose="02020603050405020304" pitchFamily="18" charset="0"/>
                <a:cs typeface="Times New Roman" panose="02020603050405020304" pitchFamily="18" charset="0"/>
              </a:rPr>
              <a:t>OSPF adapts quickly to failures and provides efficient routing decisions.</a:t>
            </a:r>
          </a:p>
        </p:txBody>
      </p:sp>
    </p:spTree>
    <p:extLst>
      <p:ext uri="{BB962C8B-B14F-4D97-AF65-F5344CB8AC3E}">
        <p14:creationId xmlns:p14="http://schemas.microsoft.com/office/powerpoint/2010/main" val="16704691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C1B8B-2A6D-BC6A-034E-49AB376D05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3CA3F4-3E3A-6AE0-2AF0-5001B0B69D5D}"/>
              </a:ext>
            </a:extLst>
          </p:cNvPr>
          <p:cNvSpPr>
            <a:spLocks noGrp="1"/>
          </p:cNvSpPr>
          <p:nvPr>
            <p:ph type="ctrTitle"/>
          </p:nvPr>
        </p:nvSpPr>
        <p:spPr>
          <a:xfrm>
            <a:off x="853440" y="731521"/>
            <a:ext cx="10277856" cy="890016"/>
          </a:xfrm>
        </p:spPr>
        <p:txBody>
          <a:bodyPr>
            <a:noAutofit/>
          </a:bodyPr>
          <a:lstStyle/>
          <a:p>
            <a:pPr algn="l"/>
            <a:r>
              <a:rPr lang="en-IN" dirty="0">
                <a:solidFill>
                  <a:srgbClr val="002060"/>
                </a:solidFill>
                <a:latin typeface="Times New Roman" panose="02020603050405020304" pitchFamily="18" charset="0"/>
                <a:cs typeface="Times New Roman" panose="02020603050405020304" pitchFamily="18" charset="0"/>
              </a:rPr>
              <a:t>Result &amp; Preferred Protocol</a:t>
            </a:r>
            <a:endParaRPr lang="en-US" dirty="0">
              <a:solidFill>
                <a:srgbClr val="00206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EC6C10AC-A051-D6D4-B2B5-6CB1D3F57ECD}"/>
              </a:ext>
            </a:extLst>
          </p:cNvPr>
          <p:cNvSpPr>
            <a:spLocks noGrp="1"/>
          </p:cNvSpPr>
          <p:nvPr>
            <p:ph type="subTitle" idx="1"/>
          </p:nvPr>
        </p:nvSpPr>
        <p:spPr>
          <a:xfrm>
            <a:off x="853440" y="1719072"/>
            <a:ext cx="10277856" cy="4498848"/>
          </a:xfrm>
        </p:spPr>
        <p:txBody>
          <a:bodyPr>
            <a:noAutofit/>
          </a:bodyPr>
          <a:lstStyle/>
          <a:p>
            <a:pPr algn="l">
              <a:lnSpc>
                <a:spcPct val="70000"/>
              </a:lnSpc>
            </a:pPr>
            <a:r>
              <a:rPr lang="en-IN" b="1" dirty="0">
                <a:latin typeface="Times New Roman" panose="02020603050405020304" pitchFamily="18" charset="0"/>
                <a:cs typeface="Times New Roman" panose="02020603050405020304" pitchFamily="18" charset="0"/>
              </a:rPr>
              <a:t>Results Obtained:</a:t>
            </a:r>
          </a:p>
          <a:p>
            <a:pPr marL="342900" indent="-342900" algn="l">
              <a:lnSpc>
                <a:spcPct val="60000"/>
              </a:lnSpc>
              <a:buFont typeface="Wingdings" pitchFamily="2" charset="2"/>
              <a:buChar char="Ø"/>
            </a:pPr>
            <a:r>
              <a:rPr lang="en-IN" sz="2200" dirty="0">
                <a:latin typeface="Times New Roman" panose="02020603050405020304" pitchFamily="18" charset="0"/>
                <a:cs typeface="Times New Roman" panose="02020603050405020304" pitchFamily="18" charset="0"/>
              </a:rPr>
              <a:t>Network designed and configured successfully.</a:t>
            </a:r>
          </a:p>
          <a:p>
            <a:pPr marL="342900" indent="-342900" algn="l">
              <a:lnSpc>
                <a:spcPct val="60000"/>
              </a:lnSpc>
              <a:buFont typeface="Wingdings" pitchFamily="2" charset="2"/>
              <a:buChar char="Ø"/>
            </a:pPr>
            <a:r>
              <a:rPr lang="en-IN" sz="2200" dirty="0">
                <a:latin typeface="Times New Roman" panose="02020603050405020304" pitchFamily="18" charset="0"/>
                <a:cs typeface="Times New Roman" panose="02020603050405020304" pitchFamily="18" charset="0"/>
              </a:rPr>
              <a:t>RIP and OSPF implemented and tested.</a:t>
            </a:r>
          </a:p>
          <a:p>
            <a:pPr marL="342900" indent="-342900" algn="l">
              <a:lnSpc>
                <a:spcPct val="60000"/>
              </a:lnSpc>
              <a:buFont typeface="Wingdings" pitchFamily="2" charset="2"/>
              <a:buChar char="Ø"/>
            </a:pPr>
            <a:r>
              <a:rPr lang="en-IN" sz="2200" dirty="0">
                <a:latin typeface="Times New Roman" panose="02020603050405020304" pitchFamily="18" charset="0"/>
                <a:cs typeface="Times New Roman" panose="02020603050405020304" pitchFamily="18" charset="0"/>
              </a:rPr>
              <a:t>Routing tables generated correctly.</a:t>
            </a:r>
          </a:p>
          <a:p>
            <a:pPr marL="342900" indent="-342900" algn="l">
              <a:lnSpc>
                <a:spcPct val="60000"/>
              </a:lnSpc>
              <a:buFont typeface="Wingdings" pitchFamily="2" charset="2"/>
              <a:buChar char="Ø"/>
            </a:pPr>
            <a:r>
              <a:rPr lang="en-IN" sz="2200" dirty="0">
                <a:latin typeface="Times New Roman" panose="02020603050405020304" pitchFamily="18" charset="0"/>
                <a:cs typeface="Times New Roman" panose="02020603050405020304" pitchFamily="18" charset="0"/>
              </a:rPr>
              <a:t>Successful communication between departments.</a:t>
            </a:r>
          </a:p>
          <a:p>
            <a:pPr marL="342900" indent="-342900" algn="l">
              <a:lnSpc>
                <a:spcPct val="60000"/>
              </a:lnSpc>
              <a:buFont typeface="Wingdings" pitchFamily="2" charset="2"/>
              <a:buChar char="Ø"/>
            </a:pPr>
            <a:r>
              <a:rPr lang="en-IN" sz="2200" dirty="0">
                <a:latin typeface="Times New Roman" panose="02020603050405020304" pitchFamily="18" charset="0"/>
                <a:cs typeface="Times New Roman" panose="02020603050405020304" pitchFamily="18" charset="0"/>
              </a:rPr>
              <a:t>PDU transfer completed successfully.</a:t>
            </a:r>
          </a:p>
          <a:p>
            <a:pPr algn="l">
              <a:lnSpc>
                <a:spcPct val="70000"/>
              </a:lnSpc>
            </a:pPr>
            <a:r>
              <a:rPr lang="en-IN" b="1" dirty="0">
                <a:latin typeface="Times New Roman" panose="02020603050405020304" pitchFamily="18" charset="0"/>
                <a:cs typeface="Times New Roman" panose="02020603050405020304" pitchFamily="18" charset="0"/>
              </a:rPr>
              <a:t>Preferred Protocol: OSPF</a:t>
            </a:r>
          </a:p>
          <a:p>
            <a:pPr marL="342900" lvl="0" indent="-342900" algn="l">
              <a:lnSpc>
                <a:spcPct val="60000"/>
              </a:lnSpc>
              <a:buFont typeface="Wingdings" pitchFamily="2" charset="2"/>
              <a:buChar char="Ø"/>
            </a:pPr>
            <a:r>
              <a:rPr lang="en-IN" sz="2200" dirty="0">
                <a:latin typeface="Times New Roman" panose="02020603050405020304" pitchFamily="18" charset="0"/>
                <a:cs typeface="Times New Roman" panose="02020603050405020304" pitchFamily="18" charset="0"/>
              </a:rPr>
              <a:t>Faster convergence</a:t>
            </a:r>
          </a:p>
          <a:p>
            <a:pPr marL="342900" lvl="0" indent="-342900" algn="l">
              <a:lnSpc>
                <a:spcPct val="60000"/>
              </a:lnSpc>
              <a:buFont typeface="Wingdings" pitchFamily="2" charset="2"/>
              <a:buChar char="Ø"/>
            </a:pPr>
            <a:r>
              <a:rPr lang="en-IN" sz="2200" dirty="0">
                <a:latin typeface="Times New Roman" panose="02020603050405020304" pitchFamily="18" charset="0"/>
                <a:cs typeface="Times New Roman" panose="02020603050405020304" pitchFamily="18" charset="0"/>
              </a:rPr>
              <a:t>Better scalability</a:t>
            </a:r>
          </a:p>
          <a:p>
            <a:pPr marL="342900" lvl="0" indent="-342900" algn="l">
              <a:lnSpc>
                <a:spcPct val="60000"/>
              </a:lnSpc>
              <a:buFont typeface="Wingdings" pitchFamily="2" charset="2"/>
              <a:buChar char="Ø"/>
            </a:pPr>
            <a:r>
              <a:rPr lang="en-IN" sz="2200" dirty="0">
                <a:latin typeface="Times New Roman" panose="02020603050405020304" pitchFamily="18" charset="0"/>
                <a:cs typeface="Times New Roman" panose="02020603050405020304" pitchFamily="18" charset="0"/>
              </a:rPr>
              <a:t>Efficient path selection</a:t>
            </a:r>
          </a:p>
          <a:p>
            <a:pPr marL="342900" lvl="0" indent="-342900" algn="l">
              <a:lnSpc>
                <a:spcPct val="60000"/>
              </a:lnSpc>
              <a:buFont typeface="Wingdings" pitchFamily="2" charset="2"/>
              <a:buChar char="Ø"/>
            </a:pPr>
            <a:r>
              <a:rPr lang="en-IN" sz="2200" dirty="0">
                <a:latin typeface="Times New Roman" panose="02020603050405020304" pitchFamily="18" charset="0"/>
                <a:cs typeface="Times New Roman" panose="02020603050405020304" pitchFamily="18" charset="0"/>
              </a:rPr>
              <a:t>Suitable for large networks</a:t>
            </a:r>
          </a:p>
          <a:p>
            <a:pPr algn="l">
              <a:lnSpc>
                <a:spcPct val="80000"/>
              </a:lnSpc>
            </a:pPr>
            <a:r>
              <a:rPr lang="en-IN" b="1" dirty="0">
                <a:latin typeface="Times New Roman" panose="02020603050405020304" pitchFamily="18" charset="0"/>
                <a:cs typeface="Times New Roman" panose="02020603050405020304" pitchFamily="18" charset="0"/>
              </a:rPr>
              <a:t>Final Outcome: </a:t>
            </a:r>
            <a:r>
              <a:rPr lang="en-IN" sz="2200" dirty="0">
                <a:latin typeface="Times New Roman" panose="02020603050405020304" pitchFamily="18" charset="0"/>
                <a:cs typeface="Times New Roman" panose="02020603050405020304" pitchFamily="18" charset="0"/>
              </a:rPr>
              <a:t>OSPF is the preferred protocol for the university network due to its better performance and scalability.</a:t>
            </a:r>
          </a:p>
          <a:p>
            <a:pPr algn="l">
              <a:lnSpc>
                <a:spcPct val="70000"/>
              </a:lnSpc>
            </a:pPr>
            <a:endParaRPr lang="en-US" sz="2200" dirty="0"/>
          </a:p>
        </p:txBody>
      </p:sp>
      <p:pic>
        <p:nvPicPr>
          <p:cNvPr id="6" name="Picture 5">
            <a:extLst>
              <a:ext uri="{FF2B5EF4-FFF2-40B4-BE49-F238E27FC236}">
                <a16:creationId xmlns:a16="http://schemas.microsoft.com/office/drawing/2014/main" id="{7FF72522-4D90-9CD1-F7EB-113D5B608D13}"/>
              </a:ext>
            </a:extLst>
          </p:cNvPr>
          <p:cNvPicPr>
            <a:picLocks noChangeAspect="1"/>
          </p:cNvPicPr>
          <p:nvPr/>
        </p:nvPicPr>
        <p:blipFill>
          <a:blip r:embed="rId2"/>
          <a:stretch>
            <a:fillRect/>
          </a:stretch>
        </p:blipFill>
        <p:spPr>
          <a:xfrm>
            <a:off x="11301985" y="0"/>
            <a:ext cx="890016" cy="890016"/>
          </a:xfrm>
          <a:prstGeom prst="rect">
            <a:avLst/>
          </a:prstGeom>
        </p:spPr>
      </p:pic>
    </p:spTree>
    <p:extLst>
      <p:ext uri="{BB962C8B-B14F-4D97-AF65-F5344CB8AC3E}">
        <p14:creationId xmlns:p14="http://schemas.microsoft.com/office/powerpoint/2010/main" val="10969622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DE69F-0A08-B400-5917-5861FF3707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617F75-0C43-3291-824B-2BAAE8FD106D}"/>
              </a:ext>
            </a:extLst>
          </p:cNvPr>
          <p:cNvSpPr>
            <a:spLocks noGrp="1"/>
          </p:cNvSpPr>
          <p:nvPr>
            <p:ph type="ctrTitle"/>
          </p:nvPr>
        </p:nvSpPr>
        <p:spPr>
          <a:xfrm>
            <a:off x="755904" y="602805"/>
            <a:ext cx="9912096" cy="890016"/>
          </a:xfrm>
        </p:spPr>
        <p:txBody>
          <a:bodyPr>
            <a:noAutofit/>
          </a:bodyPr>
          <a:lstStyle/>
          <a:p>
            <a:pPr algn="l"/>
            <a:r>
              <a:rPr lang="en-IN" dirty="0">
                <a:solidFill>
                  <a:srgbClr val="002060"/>
                </a:solidFill>
                <a:latin typeface="Times New Roman" panose="02020603050405020304" pitchFamily="18" charset="0"/>
                <a:cs typeface="Times New Roman" panose="02020603050405020304" pitchFamily="18" charset="0"/>
              </a:rPr>
              <a:t>Conclusion &amp; Learning</a:t>
            </a:r>
            <a:endParaRPr lang="en-US" dirty="0">
              <a:solidFill>
                <a:srgbClr val="00206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A664680F-2435-869C-8EFC-492A915E4D76}"/>
              </a:ext>
            </a:extLst>
          </p:cNvPr>
          <p:cNvSpPr>
            <a:spLocks noGrp="1"/>
          </p:cNvSpPr>
          <p:nvPr>
            <p:ph type="subTitle" idx="1"/>
          </p:nvPr>
        </p:nvSpPr>
        <p:spPr>
          <a:xfrm>
            <a:off x="755904" y="1575099"/>
            <a:ext cx="10411968" cy="4751832"/>
          </a:xfrm>
        </p:spPr>
        <p:txBody>
          <a:bodyPr>
            <a:normAutofit fontScale="25000" lnSpcReduction="20000"/>
          </a:bodyPr>
          <a:lstStyle/>
          <a:p>
            <a:pPr algn="l"/>
            <a:r>
              <a:rPr lang="en-IN" sz="10400" b="1" dirty="0">
                <a:latin typeface="Times New Roman" panose="02020603050405020304" pitchFamily="18" charset="0"/>
                <a:cs typeface="Times New Roman" panose="02020603050405020304" pitchFamily="18" charset="0"/>
              </a:rPr>
              <a:t>Conclusion:</a:t>
            </a:r>
          </a:p>
          <a:p>
            <a:pPr algn="l"/>
            <a:r>
              <a:rPr lang="en-IN" sz="8800" dirty="0">
                <a:latin typeface="Times New Roman" panose="02020603050405020304" pitchFamily="18" charset="0"/>
                <a:cs typeface="Times New Roman" panose="02020603050405020304" pitchFamily="18" charset="0"/>
              </a:rPr>
              <a:t>	A multi-department university network was successfully designed and implemented using Cisco Packet Tracer. Both RIP and OSPF enabled communication among departments. However, OSPF demonstrated superior routing efficiency, faster convergence, and better scalability, making it the preferred protocol for university networks.</a:t>
            </a:r>
          </a:p>
          <a:p>
            <a:pPr algn="l"/>
            <a:r>
              <a:rPr lang="en-IN" sz="9600" b="1" dirty="0">
                <a:latin typeface="Times New Roman" panose="02020603050405020304" pitchFamily="18" charset="0"/>
                <a:cs typeface="Times New Roman" panose="02020603050405020304" pitchFamily="18" charset="0"/>
              </a:rPr>
              <a:t>Learning Outcomes:</a:t>
            </a:r>
          </a:p>
          <a:p>
            <a:pPr marL="387000" lvl="0" indent="-387000" algn="l">
              <a:lnSpc>
                <a:spcPct val="80000"/>
              </a:lnSpc>
              <a:buFont typeface="Wingdings" pitchFamily="2" charset="2"/>
              <a:buChar char="Ø"/>
            </a:pPr>
            <a:r>
              <a:rPr lang="en-IN" sz="8800" dirty="0">
                <a:latin typeface="Times New Roman" panose="02020603050405020304" pitchFamily="18" charset="0"/>
                <a:cs typeface="Times New Roman" panose="02020603050405020304" pitchFamily="18" charset="0"/>
              </a:rPr>
              <a:t>Understood dynamic routing concepts.</a:t>
            </a:r>
          </a:p>
          <a:p>
            <a:pPr marL="387000" lvl="0" indent="-387000" algn="l">
              <a:lnSpc>
                <a:spcPct val="80000"/>
              </a:lnSpc>
              <a:buFont typeface="Wingdings" pitchFamily="2" charset="2"/>
              <a:buChar char="Ø"/>
            </a:pPr>
            <a:r>
              <a:rPr lang="en-IN" sz="8800" dirty="0">
                <a:latin typeface="Times New Roman" panose="02020603050405020304" pitchFamily="18" charset="0"/>
                <a:cs typeface="Times New Roman" panose="02020603050405020304" pitchFamily="18" charset="0"/>
              </a:rPr>
              <a:t>Configured RIP and OSPF protocols.</a:t>
            </a:r>
          </a:p>
          <a:p>
            <a:pPr marL="387000" lvl="0" indent="-387000" algn="l">
              <a:lnSpc>
                <a:spcPct val="80000"/>
              </a:lnSpc>
              <a:buFont typeface="Wingdings" pitchFamily="2" charset="2"/>
              <a:buChar char="Ø"/>
            </a:pPr>
            <a:r>
              <a:rPr lang="en-IN" sz="8800" dirty="0">
                <a:latin typeface="Times New Roman" panose="02020603050405020304" pitchFamily="18" charset="0"/>
                <a:cs typeface="Times New Roman" panose="02020603050405020304" pitchFamily="18" charset="0"/>
              </a:rPr>
              <a:t>Learned IP addressing and router configuration.</a:t>
            </a:r>
          </a:p>
          <a:p>
            <a:pPr marL="387000" lvl="0" indent="-387000" algn="l">
              <a:lnSpc>
                <a:spcPct val="80000"/>
              </a:lnSpc>
              <a:buFont typeface="Wingdings" pitchFamily="2" charset="2"/>
              <a:buChar char="Ø"/>
            </a:pPr>
            <a:r>
              <a:rPr lang="en-IN" sz="8800" dirty="0" err="1">
                <a:latin typeface="Times New Roman" panose="02020603050405020304" pitchFamily="18" charset="0"/>
                <a:cs typeface="Times New Roman" panose="02020603050405020304" pitchFamily="18" charset="0"/>
              </a:rPr>
              <a:t>Analyzed</a:t>
            </a:r>
            <a:r>
              <a:rPr lang="en-IN" sz="8800" dirty="0">
                <a:latin typeface="Times New Roman" panose="02020603050405020304" pitchFamily="18" charset="0"/>
                <a:cs typeface="Times New Roman" panose="02020603050405020304" pitchFamily="18" charset="0"/>
              </a:rPr>
              <a:t> routing tables and path selection.</a:t>
            </a:r>
          </a:p>
          <a:p>
            <a:pPr marL="387000" lvl="0" indent="-387000" algn="l">
              <a:lnSpc>
                <a:spcPct val="80000"/>
              </a:lnSpc>
              <a:buFont typeface="Wingdings" pitchFamily="2" charset="2"/>
              <a:buChar char="Ø"/>
            </a:pPr>
            <a:r>
              <a:rPr lang="en-IN" sz="8800" dirty="0">
                <a:latin typeface="Times New Roman" panose="02020603050405020304" pitchFamily="18" charset="0"/>
                <a:cs typeface="Times New Roman" panose="02020603050405020304" pitchFamily="18" charset="0"/>
              </a:rPr>
              <a:t>Performed packet transfer testing.</a:t>
            </a:r>
          </a:p>
          <a:p>
            <a:pPr marL="387000" lvl="0" indent="-387000" algn="l">
              <a:lnSpc>
                <a:spcPct val="80000"/>
              </a:lnSpc>
              <a:buFont typeface="Wingdings" pitchFamily="2" charset="2"/>
              <a:buChar char="Ø"/>
            </a:pPr>
            <a:r>
              <a:rPr lang="en-IN" sz="8800" dirty="0">
                <a:latin typeface="Times New Roman" panose="02020603050405020304" pitchFamily="18" charset="0"/>
                <a:cs typeface="Times New Roman" panose="02020603050405020304" pitchFamily="18" charset="0"/>
              </a:rPr>
              <a:t>Compared routing protocols based on real-world requirements</a:t>
            </a:r>
            <a:r>
              <a:rPr lang="en-IN" sz="9600" dirty="0">
                <a:latin typeface="Times New Roman" panose="02020603050405020304" pitchFamily="18" charset="0"/>
                <a:cs typeface="Times New Roman" panose="02020603050405020304" pitchFamily="18" charset="0"/>
              </a:rPr>
              <a:t>.</a:t>
            </a:r>
            <a:r>
              <a:rPr lang="en-IN" sz="9600" dirty="0"/>
              <a:t> </a:t>
            </a:r>
          </a:p>
          <a:p>
            <a:pPr lvl="0" algn="l">
              <a:lnSpc>
                <a:spcPct val="80000"/>
              </a:lnSpc>
            </a:pPr>
            <a:r>
              <a:rPr lang="en-IN" sz="9600" b="1" i="1" dirty="0">
                <a:latin typeface="Times New Roman" panose="02020603050405020304" pitchFamily="18" charset="0"/>
                <a:cs typeface="Times New Roman" panose="02020603050405020304" pitchFamily="18" charset="0"/>
              </a:rPr>
              <a:t>— </a:t>
            </a:r>
            <a:r>
              <a:rPr lang="en-IN" sz="9600" i="1" dirty="0">
                <a:latin typeface="Times New Roman" panose="02020603050405020304" pitchFamily="18" charset="0"/>
                <a:cs typeface="Times New Roman" panose="02020603050405020304" pitchFamily="18" charset="0"/>
              </a:rPr>
              <a:t>"OSPF emerges as the preferred routing protocol for large and scalable university networks due to its efficiency, scalability, and fast convergence."</a:t>
            </a:r>
          </a:p>
        </p:txBody>
      </p:sp>
      <p:pic>
        <p:nvPicPr>
          <p:cNvPr id="6" name="Picture 5">
            <a:extLst>
              <a:ext uri="{FF2B5EF4-FFF2-40B4-BE49-F238E27FC236}">
                <a16:creationId xmlns:a16="http://schemas.microsoft.com/office/drawing/2014/main" id="{BE3C8681-EB49-7968-695D-F2BC000EF1E4}"/>
              </a:ext>
            </a:extLst>
          </p:cNvPr>
          <p:cNvPicPr>
            <a:picLocks noChangeAspect="1"/>
          </p:cNvPicPr>
          <p:nvPr/>
        </p:nvPicPr>
        <p:blipFill>
          <a:blip r:embed="rId2"/>
          <a:stretch>
            <a:fillRect/>
          </a:stretch>
        </p:blipFill>
        <p:spPr>
          <a:xfrm>
            <a:off x="11301985" y="0"/>
            <a:ext cx="890016" cy="890016"/>
          </a:xfrm>
          <a:prstGeom prst="rect">
            <a:avLst/>
          </a:prstGeom>
        </p:spPr>
      </p:pic>
    </p:spTree>
    <p:extLst>
      <p:ext uri="{BB962C8B-B14F-4D97-AF65-F5344CB8AC3E}">
        <p14:creationId xmlns:p14="http://schemas.microsoft.com/office/powerpoint/2010/main" val="23868659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6F906-EB9C-54D4-6606-9903CC422D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D0CE70-DC26-948C-6C49-7422B1723BD0}"/>
              </a:ext>
            </a:extLst>
          </p:cNvPr>
          <p:cNvSpPr>
            <a:spLocks noGrp="1"/>
          </p:cNvSpPr>
          <p:nvPr>
            <p:ph type="ctrTitle"/>
          </p:nvPr>
        </p:nvSpPr>
        <p:spPr>
          <a:xfrm>
            <a:off x="699911" y="488145"/>
            <a:ext cx="9268178" cy="936979"/>
          </a:xfrm>
        </p:spPr>
        <p:txBody>
          <a:bodyPr>
            <a:noAutofit/>
          </a:bodyPr>
          <a:lstStyle/>
          <a:p>
            <a:pPr algn="l"/>
            <a:r>
              <a:rPr lang="en-US" dirty="0">
                <a:solidFill>
                  <a:srgbClr val="002060"/>
                </a:solidFill>
                <a:latin typeface="Times New Roman" panose="02020603050405020304" pitchFamily="18" charset="0"/>
                <a:cs typeface="Times New Roman" panose="02020603050405020304" pitchFamily="18" charset="0"/>
              </a:rPr>
              <a:t>Future Scope </a:t>
            </a:r>
          </a:p>
        </p:txBody>
      </p:sp>
      <p:pic>
        <p:nvPicPr>
          <p:cNvPr id="6" name="Picture 5">
            <a:extLst>
              <a:ext uri="{FF2B5EF4-FFF2-40B4-BE49-F238E27FC236}">
                <a16:creationId xmlns:a16="http://schemas.microsoft.com/office/drawing/2014/main" id="{9538DA68-9CE3-4163-7064-35EFE6FE83A4}"/>
              </a:ext>
            </a:extLst>
          </p:cNvPr>
          <p:cNvPicPr>
            <a:picLocks noChangeAspect="1"/>
          </p:cNvPicPr>
          <p:nvPr/>
        </p:nvPicPr>
        <p:blipFill>
          <a:blip r:embed="rId2"/>
          <a:stretch>
            <a:fillRect/>
          </a:stretch>
        </p:blipFill>
        <p:spPr>
          <a:xfrm>
            <a:off x="11301985" y="0"/>
            <a:ext cx="890016" cy="890016"/>
          </a:xfrm>
          <a:prstGeom prst="rect">
            <a:avLst/>
          </a:prstGeom>
        </p:spPr>
      </p:pic>
      <p:sp>
        <p:nvSpPr>
          <p:cNvPr id="4" name="TextBox 3">
            <a:extLst>
              <a:ext uri="{FF2B5EF4-FFF2-40B4-BE49-F238E27FC236}">
                <a16:creationId xmlns:a16="http://schemas.microsoft.com/office/drawing/2014/main" id="{00D6906E-6335-138A-8E7A-BBD0CD55E5AE}"/>
              </a:ext>
            </a:extLst>
          </p:cNvPr>
          <p:cNvSpPr txBox="1"/>
          <p:nvPr/>
        </p:nvSpPr>
        <p:spPr>
          <a:xfrm>
            <a:off x="699911" y="1476208"/>
            <a:ext cx="10758311" cy="4893647"/>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	The current network design can be further enhanced by implementing Multi-Area OSPF, where different departments are placed in separate OSPF areas connected through a backbone Area 0. This improves scalability and reduces unnecessary routing updates in large networks. VLSM can also be used to allocate IP addresses more efficiently and minimize address wastage.</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To increase reliability, redundant links and gateway redundancy protocols such as HSRP or VRRP can be added to provide automatic failover during network failures. Security can be strengthened through ACLs and inter-VLAN routing, while IPv6 support using OSPFv3 can prepare the network for future requirements. Additionally, SNMP and NetFlow can be integrated for network monitoring, traffic analysis, and performance optimization, making the network closer to a real-world university infrastructure.</a:t>
            </a:r>
          </a:p>
        </p:txBody>
      </p:sp>
    </p:spTree>
    <p:extLst>
      <p:ext uri="{BB962C8B-B14F-4D97-AF65-F5344CB8AC3E}">
        <p14:creationId xmlns:p14="http://schemas.microsoft.com/office/powerpoint/2010/main" val="32693230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9238F-D1B3-A9F7-DE4D-5676F3450A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4BA24D-D36D-1ABA-01CF-9BC2866EE7B4}"/>
              </a:ext>
            </a:extLst>
          </p:cNvPr>
          <p:cNvSpPr>
            <a:spLocks noGrp="1"/>
          </p:cNvSpPr>
          <p:nvPr>
            <p:ph type="ctrTitle"/>
          </p:nvPr>
        </p:nvSpPr>
        <p:spPr>
          <a:xfrm>
            <a:off x="587022" y="410294"/>
            <a:ext cx="9144000" cy="959443"/>
          </a:xfrm>
        </p:spPr>
        <p:txBody>
          <a:bodyPr>
            <a:normAutofit/>
          </a:bodyPr>
          <a:lstStyle/>
          <a:p>
            <a:pPr algn="l"/>
            <a:r>
              <a:rPr lang="en-IN" dirty="0">
                <a:solidFill>
                  <a:srgbClr val="002060"/>
                </a:solidFill>
                <a:latin typeface="Times New Roman" panose="02020603050405020304" pitchFamily="18" charset="0"/>
                <a:cs typeface="Times New Roman" panose="02020603050405020304" pitchFamily="18" charset="0"/>
              </a:rPr>
              <a:t>References</a:t>
            </a:r>
            <a:endParaRPr lang="en-US"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60AD8A96-18F7-49FE-FE1B-7D9BCEAB5163}"/>
              </a:ext>
            </a:extLst>
          </p:cNvPr>
          <p:cNvPicPr>
            <a:picLocks noChangeAspect="1"/>
          </p:cNvPicPr>
          <p:nvPr/>
        </p:nvPicPr>
        <p:blipFill>
          <a:blip r:embed="rId2"/>
          <a:stretch>
            <a:fillRect/>
          </a:stretch>
        </p:blipFill>
        <p:spPr>
          <a:xfrm>
            <a:off x="11301985" y="0"/>
            <a:ext cx="890016" cy="890016"/>
          </a:xfrm>
          <a:prstGeom prst="rect">
            <a:avLst/>
          </a:prstGeom>
        </p:spPr>
      </p:pic>
      <p:sp>
        <p:nvSpPr>
          <p:cNvPr id="3" name="TextBox 2">
            <a:extLst>
              <a:ext uri="{FF2B5EF4-FFF2-40B4-BE49-F238E27FC236}">
                <a16:creationId xmlns:a16="http://schemas.microsoft.com/office/drawing/2014/main" id="{CA835EA1-7D55-1329-66EE-F4916B3F616E}"/>
              </a:ext>
            </a:extLst>
          </p:cNvPr>
          <p:cNvSpPr txBox="1"/>
          <p:nvPr/>
        </p:nvSpPr>
        <p:spPr>
          <a:xfrm>
            <a:off x="587022" y="1286820"/>
            <a:ext cx="11334045" cy="5262979"/>
          </a:xfrm>
          <a:prstGeom prst="rect">
            <a:avLst/>
          </a:prstGeom>
          <a:noFill/>
        </p:spPr>
        <p:txBody>
          <a:bodyPr wrap="square" rtlCol="0">
            <a:spAutoFit/>
          </a:bodyPr>
          <a:lstStyle/>
          <a:p>
            <a:pPr marL="385200" indent="-385200">
              <a:buFont typeface="+mj-lt"/>
              <a:buAutoNum type="arabicPeriod"/>
            </a:pPr>
            <a:r>
              <a:rPr lang="en-US" sz="2400" dirty="0">
                <a:latin typeface="Times New Roman" panose="02020603050405020304" pitchFamily="18" charset="0"/>
                <a:cs typeface="Times New Roman" panose="02020603050405020304" pitchFamily="18" charset="0"/>
              </a:rPr>
              <a:t>Cisco Networking Academy, CCNA: Introduction to Networks – Routing Fundamentals, Cisco Systems.</a:t>
            </a:r>
          </a:p>
          <a:p>
            <a:pPr marL="385200" indent="-385200">
              <a:buFont typeface="+mj-lt"/>
              <a:buAutoNum type="arabicPeriod"/>
            </a:pPr>
            <a:r>
              <a:rPr lang="en-US" sz="2400" dirty="0">
                <a:latin typeface="Times New Roman" panose="02020603050405020304" pitchFamily="18" charset="0"/>
                <a:cs typeface="Times New Roman" panose="02020603050405020304" pitchFamily="18" charset="0"/>
              </a:rPr>
              <a:t>Cisco Systems, Inc., Cisco Packet Tracer Software Documentation, Cisco Systems.</a:t>
            </a:r>
          </a:p>
          <a:p>
            <a:pPr marL="385200" indent="-385200">
              <a:buFont typeface="+mj-lt"/>
              <a:buAutoNum type="arabicPeriod"/>
            </a:pPr>
            <a:r>
              <a:rPr lang="en-US" sz="2400" dirty="0">
                <a:latin typeface="Times New Roman" panose="02020603050405020304" pitchFamily="18" charset="0"/>
                <a:cs typeface="Times New Roman" panose="02020603050405020304" pitchFamily="18" charset="0"/>
              </a:rPr>
              <a:t>B. A. Forouzan, Data Communications and Networking, McGraw-Hill Education.</a:t>
            </a:r>
          </a:p>
          <a:p>
            <a:pPr marL="385200" indent="-385200">
              <a:buFont typeface="+mj-lt"/>
              <a:buAutoNum type="arabicPeriod"/>
            </a:pPr>
            <a:r>
              <a:rPr lang="en-US" sz="2400" dirty="0">
                <a:latin typeface="Times New Roman" panose="02020603050405020304" pitchFamily="18" charset="0"/>
                <a:cs typeface="Times New Roman" panose="02020603050405020304" pitchFamily="18" charset="0"/>
              </a:rPr>
              <a:t>G. Malkin, “RIP Version 2,” RFC 2453, IETF, 1998.</a:t>
            </a:r>
          </a:p>
          <a:p>
            <a:pPr marL="385200" indent="-385200">
              <a:buFont typeface="+mj-lt"/>
              <a:buAutoNum type="arabicPeriod"/>
            </a:pPr>
            <a:r>
              <a:rPr lang="en-US" sz="2400" dirty="0">
                <a:latin typeface="Times New Roman" panose="02020603050405020304" pitchFamily="18" charset="0"/>
                <a:cs typeface="Times New Roman" panose="02020603050405020304" pitchFamily="18" charset="0"/>
              </a:rPr>
              <a:t>J. Moy, “OSPF Version 2,” RFC 2328, IETF, 1998.</a:t>
            </a:r>
          </a:p>
          <a:p>
            <a:pPr marL="385200" indent="-385200">
              <a:buFont typeface="+mj-lt"/>
              <a:buAutoNum type="arabicPeriod"/>
            </a:pPr>
            <a:r>
              <a:rPr lang="en-US" sz="2400" dirty="0">
                <a:latin typeface="Times New Roman" panose="02020603050405020304" pitchFamily="18" charset="0"/>
                <a:cs typeface="Times New Roman" panose="02020603050405020304" pitchFamily="18" charset="0"/>
              </a:rPr>
              <a:t>T. Lammle, CCNA Routing and Switching Study Guide, </a:t>
            </a:r>
            <a:r>
              <a:rPr lang="en-US" sz="2400" dirty="0" err="1">
                <a:latin typeface="Times New Roman" panose="02020603050405020304" pitchFamily="18" charset="0"/>
                <a:cs typeface="Times New Roman" panose="02020603050405020304" pitchFamily="18" charset="0"/>
              </a:rPr>
              <a:t>Sybex</a:t>
            </a:r>
            <a:r>
              <a:rPr lang="en-US" sz="2400" dirty="0">
                <a:latin typeface="Times New Roman" panose="02020603050405020304" pitchFamily="18" charset="0"/>
                <a:cs typeface="Times New Roman" panose="02020603050405020304" pitchFamily="18" charset="0"/>
              </a:rPr>
              <a:t>.</a:t>
            </a:r>
          </a:p>
          <a:p>
            <a:pPr marL="385200" indent="-385200">
              <a:buFont typeface="+mj-lt"/>
              <a:buAutoNum type="arabicPeriod"/>
            </a:pPr>
            <a:r>
              <a:rPr lang="en-US" sz="2400" dirty="0" err="1">
                <a:latin typeface="Times New Roman" panose="02020603050405020304" pitchFamily="18" charset="0"/>
                <a:cs typeface="Times New Roman" panose="02020603050405020304" pitchFamily="18" charset="0"/>
              </a:rPr>
              <a:t>Brainware</a:t>
            </a:r>
            <a:r>
              <a:rPr lang="en-US" sz="2400" dirty="0">
                <a:latin typeface="Times New Roman" panose="02020603050405020304" pitchFamily="18" charset="0"/>
                <a:cs typeface="Times New Roman" panose="02020603050405020304" pitchFamily="18" charset="0"/>
              </a:rPr>
              <a:t> University, Computer Networks – Course Code BTD50112, Study Material.</a:t>
            </a:r>
          </a:p>
          <a:p>
            <a:pPr marL="385200" indent="-385200">
              <a:buFont typeface="+mj-lt"/>
              <a:buAutoNum type="arabicPeriod"/>
            </a:pPr>
            <a:r>
              <a:rPr lang="en-US" sz="2400" dirty="0">
                <a:latin typeface="Times New Roman" panose="02020603050405020304" pitchFamily="18" charset="0"/>
                <a:cs typeface="Times New Roman" panose="02020603050405020304" pitchFamily="18" charset="0"/>
              </a:rPr>
              <a:t>M. Jayakumar et al., “A Comparative Study on RIP and OSPF Protocols,” ICIIECS, 2015.</a:t>
            </a:r>
          </a:p>
          <a:p>
            <a:pPr marL="385200" indent="-385200">
              <a:buFont typeface="+mj-lt"/>
              <a:buAutoNum type="arabicPeriod"/>
            </a:pPr>
            <a:r>
              <a:rPr lang="en-US" sz="2400" dirty="0">
                <a:latin typeface="Times New Roman" panose="02020603050405020304" pitchFamily="18" charset="0"/>
                <a:cs typeface="Times New Roman" panose="02020603050405020304" pitchFamily="18" charset="0"/>
              </a:rPr>
              <a:t>N. W. A. Majid and S. Fuada, “RIP vs. OSPF Routing Protocols: Which One Is the Best for a Real-Time Computer Network?” SIMETRIS, Vol. 11, No. 1, 2020.</a:t>
            </a:r>
          </a:p>
          <a:p>
            <a:pPr marL="385200" indent="-385200">
              <a:buFont typeface="+mj-lt"/>
              <a:buAutoNum type="arabicPeriod"/>
            </a:pPr>
            <a:r>
              <a:rPr lang="en-US" sz="2400" dirty="0">
                <a:latin typeface="Times New Roman" panose="02020603050405020304" pitchFamily="18" charset="0"/>
                <a:cs typeface="Times New Roman" panose="02020603050405020304" pitchFamily="18" charset="0"/>
              </a:rPr>
              <a:t>A. Ajani et al., “Comparative Performance Evaluation of OSPF and RIP in Network Link Failure and Recovery Cases,” NIGERCON, pp. 280–288, 2017.</a:t>
            </a:r>
          </a:p>
        </p:txBody>
      </p:sp>
    </p:spTree>
    <p:extLst>
      <p:ext uri="{BB962C8B-B14F-4D97-AF65-F5344CB8AC3E}">
        <p14:creationId xmlns:p14="http://schemas.microsoft.com/office/powerpoint/2010/main" val="31301871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05292-D5A5-E728-31B2-05A0382772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F04587-A210-AAA8-FFCC-EFA908FB035B}"/>
              </a:ext>
            </a:extLst>
          </p:cNvPr>
          <p:cNvSpPr>
            <a:spLocks noGrp="1"/>
          </p:cNvSpPr>
          <p:nvPr>
            <p:ph type="ctrTitle"/>
          </p:nvPr>
        </p:nvSpPr>
        <p:spPr>
          <a:xfrm>
            <a:off x="1524000" y="2518664"/>
            <a:ext cx="9144000" cy="1454912"/>
          </a:xfrm>
        </p:spPr>
        <p:txBody>
          <a:bodyPr>
            <a:normAutofit/>
          </a:bodyPr>
          <a:lstStyle/>
          <a:p>
            <a:r>
              <a:rPr lang="en-IN" sz="6600" dirty="0">
                <a:solidFill>
                  <a:srgbClr val="002060"/>
                </a:solidFill>
                <a:latin typeface="Times New Roman" panose="02020603050405020304" pitchFamily="18" charset="0"/>
                <a:cs typeface="Times New Roman" panose="02020603050405020304" pitchFamily="18" charset="0"/>
              </a:rPr>
              <a:t>Thank you</a:t>
            </a:r>
            <a:br>
              <a:rPr lang="en-IN"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for your time and attention</a:t>
            </a:r>
            <a:endParaRPr lang="en-US" sz="28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840DB39-1FC9-9E5D-7320-530F115729D5}"/>
              </a:ext>
            </a:extLst>
          </p:cNvPr>
          <p:cNvPicPr>
            <a:picLocks noChangeAspect="1"/>
          </p:cNvPicPr>
          <p:nvPr/>
        </p:nvPicPr>
        <p:blipFill>
          <a:blip r:embed="rId2"/>
          <a:stretch>
            <a:fillRect/>
          </a:stretch>
        </p:blipFill>
        <p:spPr>
          <a:xfrm>
            <a:off x="11301985" y="0"/>
            <a:ext cx="890016" cy="890016"/>
          </a:xfrm>
          <a:prstGeom prst="rect">
            <a:avLst/>
          </a:prstGeom>
        </p:spPr>
      </p:pic>
    </p:spTree>
    <p:extLst>
      <p:ext uri="{BB962C8B-B14F-4D97-AF65-F5344CB8AC3E}">
        <p14:creationId xmlns:p14="http://schemas.microsoft.com/office/powerpoint/2010/main" val="16233021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3504</TotalTime>
  <Words>1384</Words>
  <Application>Microsoft Macintosh PowerPoint</Application>
  <PresentationFormat>Widescreen</PresentationFormat>
  <Paragraphs>219</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Aptos Display</vt:lpstr>
      <vt:lpstr>Arial</vt:lpstr>
      <vt:lpstr>Times New Roman</vt:lpstr>
      <vt:lpstr>Wingdings</vt:lpstr>
      <vt:lpstr>Office Theme</vt:lpstr>
      <vt:lpstr>Multi-Department University Network Design Using RIP and OSPF</vt:lpstr>
      <vt:lpstr>Content</vt:lpstr>
      <vt:lpstr>Objective with Question</vt:lpstr>
      <vt:lpstr>Real Life Connection</vt:lpstr>
      <vt:lpstr>Project Target and Explanation</vt:lpstr>
      <vt:lpstr>Diagram Overview (RIP)</vt:lpstr>
      <vt:lpstr>Demonstration &amp; CLI (RIP)</vt:lpstr>
      <vt:lpstr>Diagram Overview (OSPF)</vt:lpstr>
      <vt:lpstr>Demonstration &amp; CLI (OSPF)</vt:lpstr>
      <vt:lpstr>Comparison</vt:lpstr>
      <vt:lpstr>Convergence &amp; Performance Analysis</vt:lpstr>
      <vt:lpstr>Result &amp; Preferred Protocol</vt:lpstr>
      <vt:lpstr>Conclusion &amp; Learning</vt:lpstr>
      <vt:lpstr>Future Scope </vt:lpstr>
      <vt:lpstr>References</vt:lpstr>
      <vt:lpstr>Thank you for your time and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snehamodak8899@outlook.com</dc:creator>
  <cp:lastModifiedBy>snehamodak8899@outlook.com</cp:lastModifiedBy>
  <cp:revision>40</cp:revision>
  <dcterms:created xsi:type="dcterms:W3CDTF">2026-09-13T05:46:56Z</dcterms:created>
  <dcterms:modified xsi:type="dcterms:W3CDTF">2026-09-30T17:30:48Z</dcterms:modified>
</cp:coreProperties>
</file>